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503" r:id="rId2"/>
    <p:sldId id="504" r:id="rId3"/>
    <p:sldId id="505" r:id="rId4"/>
    <p:sldId id="506" r:id="rId5"/>
    <p:sldId id="507" r:id="rId6"/>
    <p:sldId id="508" r:id="rId7"/>
    <p:sldId id="509" r:id="rId8"/>
    <p:sldId id="510" r:id="rId9"/>
    <p:sldId id="511" r:id="rId10"/>
    <p:sldId id="512" r:id="rId11"/>
    <p:sldId id="513" r:id="rId12"/>
    <p:sldId id="514" r:id="rId13"/>
    <p:sldId id="515" r:id="rId14"/>
    <p:sldId id="516" r:id="rId15"/>
    <p:sldId id="517" r:id="rId16"/>
    <p:sldId id="518" r:id="rId17"/>
    <p:sldId id="519" r:id="rId18"/>
    <p:sldId id="520" r:id="rId19"/>
    <p:sldId id="521" r:id="rId20"/>
    <p:sldId id="522" r:id="rId21"/>
    <p:sldId id="523" r:id="rId22"/>
    <p:sldId id="524" r:id="rId23"/>
    <p:sldId id="525" r:id="rId24"/>
    <p:sldId id="526" r:id="rId25"/>
    <p:sldId id="527" r:id="rId2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8962B-667C-4B1E-A679-2EAE51F9D051}" type="datetimeFigureOut">
              <a:rPr lang="es-CO" smtClean="0"/>
              <a:t>21/10/2026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6D6CA-A20D-484E-8B96-2DD2A4D887D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440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PORTADA · 0:30</a:t>
            </a:r>
          </a:p>
          <a:p>
            <a:r>
              <a:t>Nombre de la solución, eslogan y logo salen del issue 13 (Campaña de lanzamiento, docs/10-campana.md). Mientras no exista la campaña, dejen el nombre provisional del proyecto.</a:t>
            </a:r>
          </a:p>
          <a:p>
            <a:r>
              <a:t>Integrantes con su programa de estudio.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</a:t>
            </a:r>
          </a:p>
          <a:p>
            <a:r>
              <a:t>No se expone: sirve de guía al jurado. Los tiempos son los de la sustentación.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ORGANIZACIÓN · 0:45</a:t>
            </a:r>
          </a:p>
          <a:p>
            <a:r>
              <a:t>Fuente: docs/01-organizacion.md (issue 01).</a:t>
            </a:r>
          </a:p>
          <a:p>
            <a:r>
              <a:t>Un solo dato clave grande: la cifra que confirmó el contacto.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USUARIO · parte 1</a:t>
            </a:r>
          </a:p>
          <a:p>
            <a:r>
              <a:t>Fuente: docs/04-usuario.md (issue 05, Plan de entrevista).</a:t>
            </a:r>
          </a:p>
          <a:p>
            <a:r>
              <a:t>El usuario es la persona de la organización que vive la necesidad, no 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USUARIO · parte 2</a:t>
            </a:r>
          </a:p>
          <a:p>
            <a:r>
              <a:t>Fuente: issue 06 (Mapa de empatía). Cada cuadrante con frases reales de la entrevista, no supuestos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PROBLEMA · parte 1</a:t>
            </a:r>
          </a:p>
          <a:p>
            <a:r>
              <a:t>Fuente: docs/03-proceso-actual.md (issue 04). Exporten el BPMN en buena resolución y marquen PC1, PC2… en el diagrama.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PROBLEMA · parte 2</a:t>
            </a:r>
          </a:p>
          <a:p>
            <a:r>
              <a:t>Usen la plantilla sin mencionar la solución. Los datos deben estar confirmados por el contacto (docs/01-organizacion.md).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PROBLEMA · parte 3</a:t>
            </a:r>
          </a:p>
          <a:p>
            <a:r>
              <a:t>Fuente: docs/05-canvas.md (issue 08). Peguen la imagen del Canvas diligenciado.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METODOLOGÍA · parte 1</a:t>
            </a:r>
          </a:p>
          <a:p>
            <a:r>
              <a:t>Fuente: docs/02-planeacion.md (issue 02). Una línea por fase con lo que hizo el equipo, no la definición de la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METODOLOGÍA · parte 2</a:t>
            </a:r>
          </a:p>
          <a:p>
            <a:r>
              <a:t>Fuente: repositorio y tablero de GitHub Projects (issue 02). Mencionar en una frase cada herramienta; no se explica GitHub al jurado.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METODOLOGÍA · parte 3</a:t>
            </a:r>
          </a:p>
          <a:p>
            <a:r>
              <a:t>Fuente: docs/02-planeacion.md (issue 02). Captura de la vista Roadmap del tablero; se reemplaza cada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SOLUCIÓN · parte 1</a:t>
            </a:r>
          </a:p>
          <a:p>
            <a:r>
              <a:t>Fuente: docs/07-prototipo.md (issue 07). Cada punto crítico del BPMN se vuelve un requisito.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SOLUCIÓN · parte 2</a:t>
            </a:r>
          </a:p>
          <a:p>
            <a:r>
              <a:t>Fuente: docs/06-solucion.md (issue 09). Flujo de información en BPMN: entradas, procesos, salidas y responsables.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SOLUCIÓN · parte 3</a:t>
            </a:r>
          </a:p>
          <a:p>
            <a:r>
              <a:t>Comparen el mismo paso del proceso hoy y con la solución. Usen datos cuando existan.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PROTOTIPO · parte 1</a:t>
            </a:r>
          </a:p>
          <a:p>
            <a:r>
              <a:t>Fuente: docs/07-prototipo.md (issue 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PROTOTIPO · parte 2</a:t>
            </a:r>
          </a:p>
          <a:p>
            <a:r>
              <a:t>Fuente: wireframes del issue 07 en assets/. Muestren el flujo principal en orden.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PROTOTIPO · parte 3</a:t>
            </a:r>
          </a:p>
          <a:p>
            <a:r>
              <a:t>Fuentes: issues 10, 11 y 16, con las capturas de cada 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PROTOTIPO · parte 4</a:t>
            </a:r>
          </a:p>
          <a:p>
            <a:r>
              <a:t>Aquí ocurre la demostración en vivo (la mayor parte de los 2:30). Tengan listo el equipo, las descargas y los datos de prueba. El video no reemplaza la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VALIDACIÓN · parte 1</a:t>
            </a:r>
          </a:p>
          <a:p>
            <a:r>
              <a:t>Fuente: docs/08-validacion.md (issue 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VALIDACIÓN · parte 2</a:t>
            </a:r>
          </a:p>
          <a:p>
            <a:r>
              <a:t>Métricas del plan de testeo y la retroalimentación textual del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VALIDACIÓN · parte 3</a:t>
            </a:r>
          </a:p>
          <a:p>
            <a:r>
              <a:t>Cada aprendizaje de la prueba con su ajuste en la v1.0 (issue 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CAMPAÑA</a:t>
            </a:r>
          </a:p>
          <a:p>
            <a:r>
              <a:t>Fuentes: issues 13 y 14, docs/10-campana.md. Los elementos físicos se exhiben durante la sustentación.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</a:t>
            </a:r>
          </a:p>
          <a:p>
            <a:r>
              <a:t>Cierren con el eslogan y abran los 5 minutos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ANEXO · no se expone</a:t>
            </a:r>
          </a:p>
          <a:p>
            <a:r>
              <a:t>Fuente: docs/09-riesgos.md (issue 12). Los tres riesgos de nivel más alto.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ANEXO · no se expone</a:t>
            </a:r>
          </a:p>
          <a:p>
            <a:r>
              <a:t>Fuente: docs/11-uso-ia.md (issue 17). Un registro por cada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3DA2"/>
              </a:gs>
              <a:gs pos="52000">
                <a:srgbClr val="00807F"/>
              </a:gs>
              <a:gs pos="100000">
                <a:srgbClr val="00BE6A"/>
              </a:gs>
            </a:gsLst>
            <a:lin ang="1800000" scaled="0"/>
          </a:gradFill>
          <a:ln>
            <a:noFill/>
          </a:ln>
        </p:spPr>
        <p:txBody>
          <a:bodyPr/>
          <a:lstStyle/>
          <a:p>
            <a:endParaRPr lang="es-CO" dirty="0"/>
          </a:p>
        </p:txBody>
      </p:sp>
      <p:pic>
        <p:nvPicPr>
          <p:cNvPr id="11" name="Imagen 11" descr="Universidad Ean"/>
          <p:cNvPicPr>
            <a:picLocks noChangeAspect="1"/>
          </p:cNvPicPr>
          <p:nvPr/>
        </p:nvPicPr>
        <p:blipFill>
          <a:blip r:embed="rId3"/>
          <a:srcRect l="-66" r="-66"/>
          <a:stretch/>
        </p:blipFill>
        <p:spPr>
          <a:xfrm>
            <a:off x="9931400" y="508000"/>
            <a:ext cx="1498600" cy="660400"/>
          </a:xfrm>
          <a:prstGeom prst="rect">
            <a:avLst/>
          </a:prstGeom>
        </p:spPr>
      </p:pic>
      <p:pic>
        <p:nvPicPr>
          <p:cNvPr id="12" name="Imagen 12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9931400" y="5892800"/>
            <a:ext cx="1498600" cy="482600"/>
          </a:xfrm>
          <a:prstGeom prst="rect">
            <a:avLst/>
          </a:prstGeom>
        </p:spPr>
      </p:pic>
      <p:sp>
        <p:nvSpPr>
          <p:cNvPr id="13" name="Antetítulo"/>
          <p:cNvSpPr/>
          <p:nvPr/>
        </p:nvSpPr>
        <p:spPr>
          <a:xfrm>
            <a:off x="762000" y="1905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Trend &amp; Tech 2026 · </a:t>
            </a:r>
            <a:r>
              <a:rPr lang="es-CO" sz="2000" b="1" dirty="0" err="1">
                <a:solidFill>
                  <a:srgbClr val="CFE3EF"/>
                </a:solidFill>
                <a:latin typeface="Arial"/>
                <a:ea typeface="Arial"/>
                <a:cs typeface="Arial"/>
              </a:rPr>
              <a:t>Mult</a:t>
            </a:r>
            <a:r>
              <a:rPr lang="es-CO" sz="2000" b="1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 </a:t>
            </a:r>
            <a:r>
              <a:rPr lang="es-CO" sz="2000" b="1" dirty="0" err="1">
                <a:solidFill>
                  <a:srgbClr val="CFE3EF"/>
                </a:solidFill>
                <a:latin typeface="Arial"/>
                <a:ea typeface="Arial"/>
                <a:cs typeface="Arial"/>
              </a:rPr>
              <a:t>security</a:t>
            </a:r>
            <a:r>
              <a:rPr lang="es-CO" sz="2000" b="1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 </a:t>
            </a:r>
            <a:r>
              <a:rPr lang="es-CO" sz="2000" b="1" dirty="0" err="1">
                <a:solidFill>
                  <a:srgbClr val="CFE3EF"/>
                </a:solidFill>
                <a:latin typeface="Arial"/>
                <a:ea typeface="Arial"/>
                <a:cs typeface="Arial"/>
              </a:rPr>
              <a:t>optimize</a:t>
            </a:r>
            <a:endParaRPr lang="es-CO" sz="2000" dirty="0"/>
          </a:p>
        </p:txBody>
      </p:sp>
      <p:sp>
        <p:nvSpPr>
          <p:cNvPr id="14" name="Título"/>
          <p:cNvSpPr/>
          <p:nvPr/>
        </p:nvSpPr>
        <p:spPr>
          <a:xfrm>
            <a:off x="762000" y="2413000"/>
            <a:ext cx="676656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000" dirty="0">
                <a:solidFill>
                  <a:srgbClr val="FFFFFF"/>
                </a:solidFill>
                <a:latin typeface="Arial"/>
                <a:cs typeface="Arial"/>
              </a:rPr>
              <a:t>Base de datos</a:t>
            </a:r>
            <a:endParaRPr lang="es-CO" sz="5000" dirty="0"/>
          </a:p>
        </p:txBody>
      </p:sp>
      <p:sp>
        <p:nvSpPr>
          <p:cNvPr id="15" name="Subtítulo"/>
          <p:cNvSpPr/>
          <p:nvPr/>
        </p:nvSpPr>
        <p:spPr>
          <a:xfrm>
            <a:off x="762000" y="4089400"/>
            <a:ext cx="676656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dirty="0">
                <a:solidFill>
                  <a:srgbClr val="DCECF5"/>
                </a:solidFill>
                <a:latin typeface="Arial"/>
                <a:ea typeface="Arial"/>
                <a:cs typeface="Arial"/>
              </a:rPr>
              <a:t>[Eslogan: una frase que refleje el valor de la solución]</a:t>
            </a:r>
            <a:endParaRPr lang="es-CO" sz="1800" dirty="0"/>
          </a:p>
        </p:txBody>
      </p:sp>
      <p:sp>
        <p:nvSpPr>
          <p:cNvPr id="16" name="Docente"/>
          <p:cNvSpPr/>
          <p:nvPr/>
        </p:nvSpPr>
        <p:spPr>
          <a:xfrm>
            <a:off x="762000" y="5130800"/>
            <a:ext cx="863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CO" sz="15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Yoel Morales, Javier Salamanca</a:t>
            </a:r>
            <a:endParaRPr lang="es-CO" sz="1500" dirty="0"/>
          </a:p>
          <a:p>
            <a:r>
              <a:rPr lang="es-CO" sz="1500" dirty="0">
                <a:solidFill>
                  <a:srgbClr val="FFFFFF"/>
                </a:solidFill>
                <a:latin typeface="Arial"/>
              </a:rPr>
              <a:t>Jeronimo Triviño</a:t>
            </a:r>
            <a:endParaRPr sz="15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ie"/>
          <p:cNvSpPr/>
          <p:nvPr/>
        </p:nvSpPr>
        <p:spPr>
          <a:xfrm>
            <a:off x="762000" y="63119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Facultad de Ingeniería · Unidad de estudio transversal · Ciclo 4 de 2026</a:t>
            </a:r>
            <a:endParaRPr lang="es-CO" sz="1100" dirty="0"/>
          </a:p>
        </p:txBody>
      </p:sp>
      <p:sp>
        <p:nvSpPr>
          <p:cNvPr id="18" name="Espacio para logo"/>
          <p:cNvSpPr/>
          <p:nvPr/>
        </p:nvSpPr>
        <p:spPr>
          <a:xfrm>
            <a:off x="7726679" y="2057400"/>
            <a:ext cx="18288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2057400"/>
            <a:ext cx="164592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[Logo de la campaña]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Agenda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10 minutos de exposición y 5 de preguntas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Número"/>
          <p:cNvSpPr/>
          <p:nvPr/>
        </p:nvSpPr>
        <p:spPr>
          <a:xfrm>
            <a:off x="987552" y="181965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1691639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Portada</a:t>
            </a:r>
          </a:p>
        </p:txBody>
      </p:sp>
      <p:sp>
        <p:nvSpPr>
          <p:cNvPr id="20" name="Tarjeta"/>
          <p:cNvSpPr/>
          <p:nvPr/>
        </p:nvSpPr>
        <p:spPr>
          <a:xfrm>
            <a:off x="758952" y="269748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Número"/>
          <p:cNvSpPr/>
          <p:nvPr/>
        </p:nvSpPr>
        <p:spPr>
          <a:xfrm>
            <a:off x="987552" y="300837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28803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Organización</a:t>
            </a:r>
          </a:p>
        </p:txBody>
      </p:sp>
      <p:sp>
        <p:nvSpPr>
          <p:cNvPr id="24" name="Tarjeta"/>
          <p:cNvSpPr/>
          <p:nvPr/>
        </p:nvSpPr>
        <p:spPr>
          <a:xfrm>
            <a:off x="758952" y="388620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Número"/>
          <p:cNvSpPr/>
          <p:nvPr/>
        </p:nvSpPr>
        <p:spPr>
          <a:xfrm>
            <a:off x="987552" y="419709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0690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Usuario</a:t>
            </a:r>
          </a:p>
        </p:txBody>
      </p:sp>
      <p:sp>
        <p:nvSpPr>
          <p:cNvPr id="28" name="Tarjeta"/>
          <p:cNvSpPr/>
          <p:nvPr/>
        </p:nvSpPr>
        <p:spPr>
          <a:xfrm>
            <a:off x="758952" y="507492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Número"/>
          <p:cNvSpPr/>
          <p:nvPr/>
        </p:nvSpPr>
        <p:spPr>
          <a:xfrm>
            <a:off x="987552" y="538581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1912" y="525780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Problema</a:t>
            </a:r>
          </a:p>
        </p:txBody>
      </p:sp>
      <p:sp>
        <p:nvSpPr>
          <p:cNvPr id="32" name="Tarjeta"/>
          <p:cNvSpPr/>
          <p:nvPr/>
        </p:nvSpPr>
        <p:spPr>
          <a:xfrm>
            <a:off x="5180076" y="150876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Número"/>
          <p:cNvSpPr/>
          <p:nvPr/>
        </p:nvSpPr>
        <p:spPr>
          <a:xfrm>
            <a:off x="5408676" y="181965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3036" y="1691639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Metodología</a:t>
            </a:r>
          </a:p>
        </p:txBody>
      </p:sp>
      <p:sp>
        <p:nvSpPr>
          <p:cNvPr id="36" name="Tarjeta"/>
          <p:cNvSpPr/>
          <p:nvPr/>
        </p:nvSpPr>
        <p:spPr>
          <a:xfrm>
            <a:off x="5180076" y="269748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Número"/>
          <p:cNvSpPr/>
          <p:nvPr/>
        </p:nvSpPr>
        <p:spPr>
          <a:xfrm>
            <a:off x="5408676" y="300837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3036" y="28803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Solución</a:t>
            </a:r>
          </a:p>
        </p:txBody>
      </p:sp>
      <p:sp>
        <p:nvSpPr>
          <p:cNvPr id="40" name="Tarjeta"/>
          <p:cNvSpPr/>
          <p:nvPr/>
        </p:nvSpPr>
        <p:spPr>
          <a:xfrm>
            <a:off x="5180076" y="388620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Número"/>
          <p:cNvSpPr/>
          <p:nvPr/>
        </p:nvSpPr>
        <p:spPr>
          <a:xfrm>
            <a:off x="5408676" y="419709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03036" y="40690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Prototipo</a:t>
            </a:r>
          </a:p>
        </p:txBody>
      </p:sp>
      <p:sp>
        <p:nvSpPr>
          <p:cNvPr id="44" name="Tarjeta"/>
          <p:cNvSpPr/>
          <p:nvPr/>
        </p:nvSpPr>
        <p:spPr>
          <a:xfrm>
            <a:off x="5180076" y="5074920"/>
            <a:ext cx="423824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Número"/>
          <p:cNvSpPr/>
          <p:nvPr/>
        </p:nvSpPr>
        <p:spPr>
          <a:xfrm>
            <a:off x="5408676" y="5385816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03036" y="525780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Validación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 err="1">
                <a:solidFill>
                  <a:srgbClr val="14345F"/>
                </a:solidFill>
                <a:latin typeface="Arial"/>
                <a:cs typeface="Arial"/>
              </a:rPr>
              <a:t>Mult</a:t>
            </a:r>
            <a:r>
              <a:rPr lang="es-CO" sz="3200" dirty="0">
                <a:solidFill>
                  <a:srgbClr val="14345F"/>
                </a:solidFill>
                <a:latin typeface="Arial"/>
                <a:cs typeface="Arial"/>
              </a:rPr>
              <a:t> </a:t>
            </a:r>
            <a:r>
              <a:rPr lang="es-CO" sz="3200" dirty="0" err="1">
                <a:solidFill>
                  <a:srgbClr val="14345F"/>
                </a:solidFill>
                <a:latin typeface="Arial"/>
                <a:cs typeface="Arial"/>
              </a:rPr>
              <a:t>security</a:t>
            </a:r>
            <a:r>
              <a:rPr lang="es-CO" sz="3200" dirty="0">
                <a:solidFill>
                  <a:srgbClr val="14345F"/>
                </a:solidFill>
                <a:latin typeface="Arial"/>
                <a:cs typeface="Arial"/>
              </a:rPr>
              <a:t> </a:t>
            </a:r>
            <a:r>
              <a:rPr lang="es-CO" sz="3200" dirty="0" err="1">
                <a:solidFill>
                  <a:srgbClr val="14345F"/>
                </a:solidFill>
                <a:latin typeface="Arial"/>
                <a:cs typeface="Arial"/>
              </a:rPr>
              <a:t>optimize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2 · Organización · 0:45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docs/01-organizacion.md (issue 01).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1" y="1783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 QUÉ SE DEDICA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2103120"/>
            <a:ext cx="4572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O" sz="1600" dirty="0">
                <a:solidFill>
                  <a:srgbClr val="14345F"/>
                </a:solidFill>
                <a:latin typeface="Arial"/>
              </a:rPr>
              <a:t>Automatizamos procesos físicos de una empresa a digitales</a:t>
            </a:r>
            <a:endParaRPr sz="1600" b="0" i="0" dirty="0">
              <a:solidFill>
                <a:srgbClr val="14345F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3271" y="2880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 QUIÉN ATIENDE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200400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O" sz="1600" b="0" i="0" dirty="0">
                <a:solidFill>
                  <a:srgbClr val="14345F"/>
                </a:solidFill>
                <a:latin typeface="Arial"/>
              </a:rPr>
              <a:t>[Clientes</a:t>
            </a:r>
            <a:endParaRPr sz="1600" b="0" i="0" dirty="0">
              <a:solidFill>
                <a:srgbClr val="14345F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33271" y="397763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UBICACIÓN Y TAMAÑO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4297679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4345F"/>
                </a:solidFill>
                <a:latin typeface="Arial"/>
              </a:rPr>
              <a:t>[Ciudad · sedes · empleados]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50749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CONTACTO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5394959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4345F"/>
                </a:solidFill>
                <a:latin typeface="Arial"/>
              </a:rPr>
              <a:t>[Nombre, cargo y relación con el equipo]</a:t>
            </a:r>
          </a:p>
        </p:txBody>
      </p:sp>
      <p:sp>
        <p:nvSpPr>
          <p:cNvPr id="26" name="Espacio para imagen"/>
          <p:cNvSpPr/>
          <p:nvPr/>
        </p:nvSpPr>
        <p:spPr>
          <a:xfrm>
            <a:off x="6108192" y="1508760"/>
            <a:ext cx="3310128" cy="265176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1508760"/>
            <a:ext cx="2944368" cy="2651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[Foto o logo de la organización]</a:t>
            </a:r>
          </a:p>
        </p:txBody>
      </p:sp>
      <p:sp>
        <p:nvSpPr>
          <p:cNvPr id="28" name="Tarjeta"/>
          <p:cNvSpPr/>
          <p:nvPr/>
        </p:nvSpPr>
        <p:spPr>
          <a:xfrm>
            <a:off x="6108192" y="4343400"/>
            <a:ext cx="331012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4526280"/>
            <a:ext cx="28529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[ 000 ]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5212080"/>
            <a:ext cx="285292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[Dato clave: qué mide y quién lo confirmó]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Orlando Morales: quién vive el problema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3 · Usuario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docs/04-usuario.md (issue 05, Plan de entrevista).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3749039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3383279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[Foto de la entrevista]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A8F"/>
                </a:solidFill>
                <a:latin typeface="Arial"/>
              </a:rPr>
              <a:t>Con permiso del usuario</a:t>
            </a:r>
          </a:p>
        </p:txBody>
      </p:sp>
      <p:sp>
        <p:nvSpPr>
          <p:cNvPr id="19" name="Tarjeta"/>
          <p:cNvSpPr/>
          <p:nvPr/>
        </p:nvSpPr>
        <p:spPr>
          <a:xfrm>
            <a:off x="4736592" y="1508760"/>
            <a:ext cx="468172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10912" y="17373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PERFIL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2103120"/>
            <a:ext cx="4087368" cy="7950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O" sz="1500" b="0" i="0" dirty="0">
                <a:solidFill>
                  <a:srgbClr val="14345F"/>
                </a:solidFill>
                <a:latin typeface="Arial"/>
              </a:rPr>
              <a:t>[</a:t>
            </a:r>
            <a:r>
              <a:rPr lang="es-CO" sz="1500" dirty="0">
                <a:solidFill>
                  <a:srgbClr val="14345F"/>
                </a:solidFill>
                <a:latin typeface="Arial"/>
              </a:rPr>
              <a:t>Gerente general</a:t>
            </a:r>
          </a:p>
          <a:p>
            <a:pPr algn="l">
              <a:spcAft>
                <a:spcPts val="400"/>
              </a:spcAft>
            </a:pPr>
            <a:r>
              <a:rPr lang="es-CO" sz="1500" b="0" i="0" dirty="0">
                <a:solidFill>
                  <a:srgbClr val="14345F"/>
                </a:solidFill>
                <a:latin typeface="Arial"/>
              </a:rPr>
              <a:t>12 años</a:t>
            </a:r>
            <a:endParaRPr sz="1500" b="0" i="0" dirty="0">
              <a:solidFill>
                <a:srgbClr val="14345F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s-CO" sz="1500" b="0" i="0" dirty="0">
                <a:solidFill>
                  <a:srgbClr val="14345F"/>
                </a:solidFill>
                <a:latin typeface="Arial"/>
              </a:rPr>
              <a:t>Jefe de la empresa</a:t>
            </a:r>
            <a:endParaRPr sz="1500" b="0" i="0" dirty="0">
              <a:solidFill>
                <a:srgbClr val="14345F"/>
              </a:solidFill>
              <a:latin typeface="Arial"/>
            </a:endParaRPr>
          </a:p>
        </p:txBody>
      </p:sp>
      <p:sp>
        <p:nvSpPr>
          <p:cNvPr id="22" name="Tarjeta"/>
          <p:cNvSpPr/>
          <p:nvPr/>
        </p:nvSpPr>
        <p:spPr>
          <a:xfrm>
            <a:off x="4736592" y="3703320"/>
            <a:ext cx="4681728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10912" y="39319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LO QUE NOS DIJO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4297679"/>
            <a:ext cx="408736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1">
                <a:solidFill>
                  <a:srgbClr val="14345F"/>
                </a:solidFill>
                <a:latin typeface="Arial"/>
              </a:rPr>
              <a:t>«[Frase textual de la entrevista]»</a:t>
            </a:r>
          </a:p>
          <a:p>
            <a:pPr algn="l">
              <a:spcAft>
                <a:spcPts val="1200"/>
              </a:spcAft>
            </a:pPr>
            <a:r>
              <a:rPr sz="1600" b="0" i="1">
                <a:solidFill>
                  <a:srgbClr val="14345F"/>
                </a:solidFill>
                <a:latin typeface="Arial"/>
              </a:rPr>
              <a:t>«[Frase textual de la entrevista]»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Mapa de empatía de Orlando Morales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3 · Usuario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issue 06 (Mapa de empatía)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1709928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PIENSA Y SIENTE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07568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</p:txBody>
      </p:sp>
      <p:sp>
        <p:nvSpPr>
          <p:cNvPr id="20" name="Tarjeta"/>
          <p:cNvSpPr/>
          <p:nvPr/>
        </p:nvSpPr>
        <p:spPr>
          <a:xfrm>
            <a:off x="3706368" y="1508760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4968" y="1709928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4968" y="207568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</p:txBody>
      </p:sp>
      <p:sp>
        <p:nvSpPr>
          <p:cNvPr id="23" name="Tarjeta"/>
          <p:cNvSpPr/>
          <p:nvPr/>
        </p:nvSpPr>
        <p:spPr>
          <a:xfrm>
            <a:off x="6653784" y="1508760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82384" y="1709928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OYE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2384" y="207568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</p:txBody>
      </p:sp>
      <p:sp>
        <p:nvSpPr>
          <p:cNvPr id="26" name="Tarjeta"/>
          <p:cNvSpPr/>
          <p:nvPr/>
        </p:nvSpPr>
        <p:spPr>
          <a:xfrm>
            <a:off x="758952" y="3977639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4178807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DICE Y HACE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54456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</p:txBody>
      </p:sp>
      <p:sp>
        <p:nvSpPr>
          <p:cNvPr id="29" name="Tarjeta"/>
          <p:cNvSpPr/>
          <p:nvPr/>
        </p:nvSpPr>
        <p:spPr>
          <a:xfrm>
            <a:off x="3706368" y="3977639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34968" y="4178807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ESFUERZOS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4968" y="454456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</p:txBody>
      </p:sp>
      <p:sp>
        <p:nvSpPr>
          <p:cNvPr id="32" name="Tarjeta"/>
          <p:cNvSpPr/>
          <p:nvPr/>
        </p:nvSpPr>
        <p:spPr>
          <a:xfrm>
            <a:off x="6653784" y="3977639"/>
            <a:ext cx="2764536" cy="22860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82384" y="4178807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RESULTADOS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2384" y="4544568"/>
            <a:ext cx="23073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[Frase real]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 dirty="0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Así funciona hoy en el Almacen 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4 · Problema · 1:15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docs/03-proceso-actual.md (issue 04)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5760720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5394959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[BPMN del proceso actual]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A8F"/>
                </a:solidFill>
                <a:latin typeface="Arial"/>
              </a:rPr>
              <a:t>assets/bpmn-actual.png</a:t>
            </a:r>
          </a:p>
        </p:txBody>
      </p:sp>
      <p:sp>
        <p:nvSpPr>
          <p:cNvPr id="19" name="Tarjeta"/>
          <p:cNvSpPr/>
          <p:nvPr/>
        </p:nvSpPr>
        <p:spPr>
          <a:xfrm>
            <a:off x="6748272" y="1508760"/>
            <a:ext cx="26700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Número"/>
          <p:cNvSpPr/>
          <p:nvPr/>
        </p:nvSpPr>
        <p:spPr>
          <a:xfrm>
            <a:off x="6931152" y="1709928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1" y="1709928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2096084"/>
            <a:ext cx="2304288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O" sz="1300" b="0" i="0" dirty="0">
                <a:solidFill>
                  <a:srgbClr val="3D4A5C"/>
                </a:solidFill>
                <a:latin typeface="Arial"/>
              </a:rPr>
              <a:t>El conteo manual del inventario genera inconsistencias y riesgos de perdida o duplicación de datos</a:t>
            </a:r>
            <a:endParaRPr sz="1300" b="0" i="0" dirty="0">
              <a:solidFill>
                <a:srgbClr val="3D4A5C"/>
              </a:solidFill>
              <a:latin typeface="Arial"/>
            </a:endParaRPr>
          </a:p>
        </p:txBody>
      </p:sp>
      <p:sp>
        <p:nvSpPr>
          <p:cNvPr id="23" name="Tarjeta"/>
          <p:cNvSpPr/>
          <p:nvPr/>
        </p:nvSpPr>
        <p:spPr>
          <a:xfrm>
            <a:off x="6748272" y="3154680"/>
            <a:ext cx="26700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Número"/>
          <p:cNvSpPr/>
          <p:nvPr/>
        </p:nvSpPr>
        <p:spPr>
          <a:xfrm>
            <a:off x="6931152" y="3355848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1" y="3355848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14345F"/>
                </a:solidFill>
                <a:latin typeface="Arial"/>
              </a:rPr>
              <a:t>Punto </a:t>
            </a:r>
            <a:r>
              <a:rPr sz="1400" b="1" i="0" dirty="0" err="1">
                <a:solidFill>
                  <a:srgbClr val="14345F"/>
                </a:solidFill>
                <a:latin typeface="Arial"/>
              </a:rPr>
              <a:t>crítico</a:t>
            </a:r>
            <a:r>
              <a:rPr sz="1400" b="1" i="0" dirty="0">
                <a:solidFill>
                  <a:srgbClr val="14345F"/>
                </a:solidFill>
                <a:latin typeface="Arial"/>
              </a:rPr>
              <a:t>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739728"/>
            <a:ext cx="2304288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O" sz="1300" b="0" i="0" dirty="0">
                <a:solidFill>
                  <a:srgbClr val="3D4A5C"/>
                </a:solidFill>
                <a:latin typeface="Arial"/>
              </a:rPr>
              <a:t>El uso de múltiples hojas para registrar la entrada y salidas, dificulta el seguimiento y el control del inventario.</a:t>
            </a:r>
            <a:endParaRPr sz="1300" b="0" i="0" dirty="0">
              <a:solidFill>
                <a:srgbClr val="3D4A5C"/>
              </a:solidFill>
              <a:latin typeface="Arial"/>
            </a:endParaRPr>
          </a:p>
        </p:txBody>
      </p:sp>
      <p:sp>
        <p:nvSpPr>
          <p:cNvPr id="27" name="Tarjeta"/>
          <p:cNvSpPr/>
          <p:nvPr/>
        </p:nvSpPr>
        <p:spPr>
          <a:xfrm>
            <a:off x="6748272" y="4800600"/>
            <a:ext cx="26700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Número"/>
          <p:cNvSpPr/>
          <p:nvPr/>
        </p:nvSpPr>
        <p:spPr>
          <a:xfrm>
            <a:off x="6931152" y="5001768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1" y="5001768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4172" y="5401976"/>
            <a:ext cx="2304288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O" sz="1300" b="0" i="0" dirty="0">
                <a:solidFill>
                  <a:srgbClr val="3D4A5C"/>
                </a:solidFill>
                <a:latin typeface="Arial"/>
              </a:rPr>
              <a:t>La falta de control, del inventario puede causar perdidas de piezas y dinero para la empresa.</a:t>
            </a:r>
            <a:endParaRPr sz="1300" b="0" i="0" dirty="0">
              <a:solidFill>
                <a:srgbClr val="3D4A5C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El problema en una frase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4 · Problema · 1:15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8659368" cy="23774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6152" y="1958816"/>
            <a:ext cx="7744968" cy="1477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rgbClr val="14345F"/>
                </a:solidFill>
                <a:latin typeface="Arial"/>
              </a:rPr>
              <a:t>«En </a:t>
            </a:r>
            <a:r>
              <a:rPr lang="es-CO" sz="2400" b="0" i="0" dirty="0" err="1">
                <a:solidFill>
                  <a:srgbClr val="14345F"/>
                </a:solidFill>
                <a:latin typeface="Arial"/>
              </a:rPr>
              <a:t>M</a:t>
            </a:r>
            <a:r>
              <a:rPr lang="es-CO" sz="2400" dirty="0" err="1">
                <a:solidFill>
                  <a:srgbClr val="14345F"/>
                </a:solidFill>
                <a:latin typeface="Arial"/>
              </a:rPr>
              <a:t>ult</a:t>
            </a:r>
            <a:r>
              <a:rPr lang="es-CO" sz="2400" dirty="0">
                <a:solidFill>
                  <a:srgbClr val="14345F"/>
                </a:solidFill>
                <a:latin typeface="Arial"/>
              </a:rPr>
              <a:t> </a:t>
            </a:r>
            <a:r>
              <a:rPr lang="es-CO" sz="2400" dirty="0" err="1">
                <a:solidFill>
                  <a:srgbClr val="14345F"/>
                </a:solidFill>
                <a:latin typeface="Arial"/>
              </a:rPr>
              <a:t>securirty</a:t>
            </a:r>
            <a:r>
              <a:rPr lang="es-CO" sz="2400" dirty="0">
                <a:solidFill>
                  <a:srgbClr val="14345F"/>
                </a:solidFill>
                <a:latin typeface="Arial"/>
              </a:rPr>
              <a:t> Orlando Morales </a:t>
            </a:r>
            <a:r>
              <a:rPr sz="2400" b="0" i="0" dirty="0" err="1">
                <a:solidFill>
                  <a:srgbClr val="14345F"/>
                </a:solidFill>
                <a:latin typeface="Arial"/>
              </a:rPr>
              <a:t>necesita</a:t>
            </a:r>
            <a:r>
              <a:rPr sz="2400" b="0" i="0" dirty="0">
                <a:solidFill>
                  <a:srgbClr val="14345F"/>
                </a:solidFill>
                <a:latin typeface="Arial"/>
              </a:rPr>
              <a:t> </a:t>
            </a:r>
            <a:r>
              <a:rPr lang="es-CO" sz="2400" b="0" i="0" dirty="0">
                <a:solidFill>
                  <a:srgbClr val="14345F"/>
                </a:solidFill>
                <a:latin typeface="Arial"/>
              </a:rPr>
              <a:t>un mejor control del almacén con una base de datos </a:t>
            </a:r>
            <a:r>
              <a:rPr sz="2400" b="0" i="0" dirty="0" err="1">
                <a:solidFill>
                  <a:srgbClr val="14345F"/>
                </a:solidFill>
                <a:latin typeface="Arial"/>
              </a:rPr>
              <a:t>porque</a:t>
            </a:r>
            <a:r>
              <a:rPr sz="2400" b="0" i="0" dirty="0">
                <a:solidFill>
                  <a:srgbClr val="14345F"/>
                </a:solidFill>
                <a:latin typeface="Arial"/>
              </a:rPr>
              <a:t> hoy </a:t>
            </a:r>
            <a:r>
              <a:rPr lang="es-CO" sz="2400" dirty="0">
                <a:solidFill>
                  <a:srgbClr val="14345F"/>
                </a:solidFill>
                <a:latin typeface="Arial"/>
              </a:rPr>
              <a:t> no tiene un buen control de almacén</a:t>
            </a:r>
            <a:r>
              <a:rPr sz="2400" b="0" i="0" dirty="0">
                <a:solidFill>
                  <a:srgbClr val="14345F"/>
                </a:solidFill>
                <a:latin typeface="Arial"/>
              </a:rPr>
              <a:t> </a:t>
            </a:r>
            <a:r>
              <a:rPr sz="2400" b="0" i="0" dirty="0" err="1">
                <a:solidFill>
                  <a:srgbClr val="14345F"/>
                </a:solidFill>
                <a:latin typeface="Arial"/>
              </a:rPr>
              <a:t>que</a:t>
            </a:r>
            <a:r>
              <a:rPr sz="2400" b="0" i="0" dirty="0">
                <a:solidFill>
                  <a:srgbClr val="14345F"/>
                </a:solidFill>
                <a:latin typeface="Arial"/>
              </a:rPr>
              <a:t> causa </a:t>
            </a:r>
            <a:r>
              <a:rPr lang="es-CO" sz="2400" dirty="0">
                <a:solidFill>
                  <a:srgbClr val="14345F"/>
                </a:solidFill>
                <a:latin typeface="Arial"/>
              </a:rPr>
              <a:t>un desorden y perdida de información y materia prima.</a:t>
            </a:r>
            <a:endParaRPr sz="2400" b="0" i="0" dirty="0">
              <a:solidFill>
                <a:srgbClr val="14345F"/>
              </a:solidFill>
              <a:latin typeface="Arial"/>
            </a:endParaRPr>
          </a:p>
        </p:txBody>
      </p:sp>
      <p:sp>
        <p:nvSpPr>
          <p:cNvPr id="18" name="Tarjeta"/>
          <p:cNvSpPr/>
          <p:nvPr/>
        </p:nvSpPr>
        <p:spPr>
          <a:xfrm>
            <a:off x="758952" y="4114800"/>
            <a:ext cx="42382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297680"/>
            <a:ext cx="37810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[ 000 ]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983480"/>
            <a:ext cx="378104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[Dato que muestra el tamaño del problema]</a:t>
            </a:r>
          </a:p>
        </p:txBody>
      </p:sp>
      <p:sp>
        <p:nvSpPr>
          <p:cNvPr id="21" name="Tarjeta"/>
          <p:cNvSpPr/>
          <p:nvPr/>
        </p:nvSpPr>
        <p:spPr>
          <a:xfrm>
            <a:off x="5180076" y="4114800"/>
            <a:ext cx="423824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08676" y="4297680"/>
            <a:ext cx="378104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[ 000 ]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8676" y="4983480"/>
            <a:ext cx="378104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[Consecuencia medida: tiempo, dinero o errores]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Canvas del proyecto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4 · Problema · 1:15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docs/05-canvas.md (issue 08)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6035040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5669279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[Canvas del proyecto]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A8F"/>
                </a:solidFill>
                <a:latin typeface="Arial"/>
              </a:rPr>
              <a:t>assets/canvas.png</a:t>
            </a:r>
          </a:p>
        </p:txBody>
      </p:sp>
      <p:sp>
        <p:nvSpPr>
          <p:cNvPr id="19" name="Tarjeta"/>
          <p:cNvSpPr/>
          <p:nvPr/>
        </p:nvSpPr>
        <p:spPr>
          <a:xfrm>
            <a:off x="7022592" y="1508760"/>
            <a:ext cx="239572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51192" y="17830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NECESIDAD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1973300"/>
            <a:ext cx="1938528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O" sz="1500" b="0" i="0" dirty="0">
                <a:solidFill>
                  <a:srgbClr val="14345F"/>
                </a:solidFill>
                <a:latin typeface="Arial"/>
              </a:rPr>
              <a:t>Automatizar y digitalizar el inventario de </a:t>
            </a:r>
            <a:r>
              <a:rPr lang="es-CO" sz="1500" b="0" i="0" dirty="0" err="1">
                <a:solidFill>
                  <a:srgbClr val="14345F"/>
                </a:solidFill>
                <a:latin typeface="Arial"/>
              </a:rPr>
              <a:t>Mult</a:t>
            </a:r>
            <a:r>
              <a:rPr lang="es-CO" sz="1500" b="0" i="0" dirty="0">
                <a:solidFill>
                  <a:srgbClr val="14345F"/>
                </a:solidFill>
                <a:latin typeface="Arial"/>
              </a:rPr>
              <a:t> </a:t>
            </a:r>
            <a:r>
              <a:rPr lang="es-CO" sz="1500" b="0" i="0" dirty="0" err="1">
                <a:solidFill>
                  <a:srgbClr val="14345F"/>
                </a:solidFill>
                <a:latin typeface="Arial"/>
              </a:rPr>
              <a:t>security</a:t>
            </a:r>
            <a:r>
              <a:rPr lang="es-CO" sz="1500" dirty="0">
                <a:solidFill>
                  <a:srgbClr val="14345F"/>
                </a:solidFill>
                <a:latin typeface="Arial"/>
              </a:rPr>
              <a:t>, para mejorar el control de las piezas, evitar perdidas y optimizar compras e inversiones de la empresa.</a:t>
            </a:r>
            <a:endParaRPr sz="1500" b="0" i="0" dirty="0">
              <a:solidFill>
                <a:srgbClr val="14345F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51192" y="40233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 dirty="0">
                <a:solidFill>
                  <a:srgbClr val="00807F"/>
                </a:solidFill>
                <a:latin typeface="Arial"/>
              </a:rPr>
              <a:t>PROPUESTA DE VALOR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4251960"/>
            <a:ext cx="1938528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s-MX" sz="1500" b="0" i="0" dirty="0">
                <a:solidFill>
                  <a:srgbClr val="14345F"/>
                </a:solidFill>
                <a:latin typeface="Arial"/>
              </a:rPr>
              <a:t>El usuario podrá registrar y consultar las entradas y salidas de piezas, controlar el inventario en tiempo real y planificar las compras de forma mas eficiente.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Cómo trabajamos: Lean UX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5 · Metodología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docs/02-planeacion.md (issue 02)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2057400"/>
            <a:ext cx="1856232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Número"/>
          <p:cNvSpPr/>
          <p:nvPr/>
        </p:nvSpPr>
        <p:spPr>
          <a:xfrm>
            <a:off x="987552" y="228600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834639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345F"/>
                </a:solidFill>
                <a:latin typeface="Arial"/>
              </a:rPr>
              <a:t>Idear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383279"/>
            <a:ext cx="13990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[Entrevista, BPMN y mapa de empatía]</a:t>
            </a:r>
          </a:p>
        </p:txBody>
      </p:sp>
      <p:sp>
        <p:nvSpPr>
          <p:cNvPr id="21" name="Flecha"/>
          <p:cNvSpPr/>
          <p:nvPr/>
        </p:nvSpPr>
        <p:spPr>
          <a:xfrm>
            <a:off x="2670048" y="356616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arjeta"/>
          <p:cNvSpPr/>
          <p:nvPr/>
        </p:nvSpPr>
        <p:spPr>
          <a:xfrm>
            <a:off x="3026664" y="2057400"/>
            <a:ext cx="1856232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Número"/>
          <p:cNvSpPr/>
          <p:nvPr/>
        </p:nvSpPr>
        <p:spPr>
          <a:xfrm>
            <a:off x="3255264" y="228600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4" y="2834639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345F"/>
                </a:solidFill>
                <a:latin typeface="Arial"/>
              </a:rPr>
              <a:t>Pensar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5264" y="3383279"/>
            <a:ext cx="13990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[Canvas, solución y requisitos]</a:t>
            </a:r>
          </a:p>
        </p:txBody>
      </p:sp>
      <p:sp>
        <p:nvSpPr>
          <p:cNvPr id="26" name="Flecha"/>
          <p:cNvSpPr/>
          <p:nvPr/>
        </p:nvSpPr>
        <p:spPr>
          <a:xfrm>
            <a:off x="4937760" y="356616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arjeta"/>
          <p:cNvSpPr/>
          <p:nvPr/>
        </p:nvSpPr>
        <p:spPr>
          <a:xfrm>
            <a:off x="5294376" y="2057400"/>
            <a:ext cx="1856232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Número"/>
          <p:cNvSpPr/>
          <p:nvPr/>
        </p:nvSpPr>
        <p:spPr>
          <a:xfrm>
            <a:off x="5522976" y="228600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2976" y="2834639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345F"/>
                </a:solidFill>
                <a:latin typeface="Arial"/>
              </a:rPr>
              <a:t>Hacer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2976" y="3383279"/>
            <a:ext cx="13990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[Prototipo v0.1 y v0.5]</a:t>
            </a:r>
          </a:p>
        </p:txBody>
      </p:sp>
      <p:sp>
        <p:nvSpPr>
          <p:cNvPr id="31" name="Flecha"/>
          <p:cNvSpPr/>
          <p:nvPr/>
        </p:nvSpPr>
        <p:spPr>
          <a:xfrm>
            <a:off x="7205472" y="356616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arjeta"/>
          <p:cNvSpPr/>
          <p:nvPr/>
        </p:nvSpPr>
        <p:spPr>
          <a:xfrm>
            <a:off x="7562088" y="2057400"/>
            <a:ext cx="1856232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Número"/>
          <p:cNvSpPr/>
          <p:nvPr/>
        </p:nvSpPr>
        <p:spPr>
          <a:xfrm>
            <a:off x="7790688" y="228600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2834639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345F"/>
                </a:solidFill>
                <a:latin typeface="Arial"/>
              </a:rPr>
              <a:t>Evaluar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0688" y="3383279"/>
            <a:ext cx="13990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[Prueba con el usuario y v1.0]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623560"/>
            <a:ext cx="86593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B7A8F"/>
                </a:solidFill>
                <a:latin typeface="Arial"/>
              </a:rPr>
              <a:t>Construir lo mínimo, probarlo con el usuario y aprender antes de seguir.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Cómo gestionamos el proyecto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5 · Metodología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repositorio y tablero de GitHub Projects (issue 02)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2764536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Número"/>
          <p:cNvSpPr/>
          <p:nvPr/>
        </p:nvSpPr>
        <p:spPr>
          <a:xfrm>
            <a:off x="987552" y="173736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286000"/>
            <a:ext cx="2307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Repositorio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7432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TRABAJO COLABORATIVO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154680"/>
            <a:ext cx="230733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Documento en docs/, prototipo, pitch y evidencias en un solo lugar.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54879"/>
            <a:ext cx="23073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5440679"/>
            <a:ext cx="2307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commits del equipo</a:t>
            </a:r>
          </a:p>
        </p:txBody>
      </p:sp>
      <p:sp>
        <p:nvSpPr>
          <p:cNvPr id="24" name="Tarjeta"/>
          <p:cNvSpPr/>
          <p:nvPr/>
        </p:nvSpPr>
        <p:spPr>
          <a:xfrm>
            <a:off x="3706368" y="1508760"/>
            <a:ext cx="2764536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Número"/>
          <p:cNvSpPr/>
          <p:nvPr/>
        </p:nvSpPr>
        <p:spPr>
          <a:xfrm>
            <a:off x="3934968" y="173736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4968" y="2286000"/>
            <a:ext cx="2307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Tablero Kanban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4968" y="27432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GESTIÓN DEL PROYECTO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4968" y="3154680"/>
            <a:ext cx="230733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Cada tarea es un issue con responsable, etiqueta e hito; avanza de Backlog a Hecho.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4968" y="4754879"/>
            <a:ext cx="23073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4968" y="5440679"/>
            <a:ext cx="2307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issues cerrados</a:t>
            </a:r>
          </a:p>
        </p:txBody>
      </p:sp>
      <p:sp>
        <p:nvSpPr>
          <p:cNvPr id="31" name="Tarjeta"/>
          <p:cNvSpPr/>
          <p:nvPr/>
        </p:nvSpPr>
        <p:spPr>
          <a:xfrm>
            <a:off x="6653784" y="1508760"/>
            <a:ext cx="2764536" cy="47548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Número"/>
          <p:cNvSpPr/>
          <p:nvPr/>
        </p:nvSpPr>
        <p:spPr>
          <a:xfrm>
            <a:off x="6882384" y="173736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2384" y="2286000"/>
            <a:ext cx="23073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345F"/>
                </a:solidFill>
                <a:latin typeface="Arial"/>
              </a:rPr>
              <a:t>Roadmap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2384" y="27432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PLANEACIÓN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2384" y="3154680"/>
            <a:ext cx="230733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Las fechas de cada issue arman el diagrama de Gantt.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2384" y="4754879"/>
            <a:ext cx="230733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2384" y="5440679"/>
            <a:ext cx="2307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semanas de trabajo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Plan del proyecto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5 · Metodología · 1:00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docs/02-planeacion.md (issue 02)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6217920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5852159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 dirty="0">
                <a:solidFill>
                  <a:srgbClr val="00807F"/>
                </a:solidFill>
                <a:latin typeface="Arial"/>
              </a:rPr>
              <a:t>[</a:t>
            </a:r>
            <a:r>
              <a:rPr sz="1400" b="1" i="0" dirty="0" err="1">
                <a:solidFill>
                  <a:srgbClr val="00807F"/>
                </a:solidFill>
                <a:latin typeface="Arial"/>
              </a:rPr>
              <a:t>Captura</a:t>
            </a:r>
            <a:r>
              <a:rPr sz="1400" b="1" i="0" dirty="0">
                <a:solidFill>
                  <a:srgbClr val="00807F"/>
                </a:solidFill>
                <a:latin typeface="Arial"/>
              </a:rPr>
              <a:t> del Gantt]</a:t>
            </a:r>
          </a:p>
          <a:p>
            <a:pPr algn="ctr">
              <a:spcAft>
                <a:spcPts val="400"/>
              </a:spcAft>
            </a:pPr>
            <a:r>
              <a:rPr sz="1200" b="0" i="0" dirty="0">
                <a:solidFill>
                  <a:srgbClr val="6B7A8F"/>
                </a:solidFill>
                <a:latin typeface="Arial"/>
              </a:rPr>
              <a:t>Vista Roadmap del </a:t>
            </a:r>
            <a:r>
              <a:rPr sz="1200" b="0" i="0" dirty="0" err="1">
                <a:solidFill>
                  <a:srgbClr val="6B7A8F"/>
                </a:solidFill>
                <a:latin typeface="Arial"/>
              </a:rPr>
              <a:t>tablero</a:t>
            </a:r>
            <a:r>
              <a:rPr sz="1200" b="0" i="0" dirty="0">
                <a:solidFill>
                  <a:srgbClr val="6B7A8F"/>
                </a:solidFill>
                <a:latin typeface="Arial"/>
              </a:rPr>
              <a:t> · assets/gantt.png · se </a:t>
            </a:r>
            <a:r>
              <a:rPr sz="1200" b="0" i="0" dirty="0" err="1">
                <a:solidFill>
                  <a:srgbClr val="6B7A8F"/>
                </a:solidFill>
                <a:latin typeface="Arial"/>
              </a:rPr>
              <a:t>actualiza</a:t>
            </a:r>
            <a:r>
              <a:rPr sz="1200" b="0" i="0" dirty="0">
                <a:solidFill>
                  <a:srgbClr val="6B7A8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6B7A8F"/>
                </a:solidFill>
                <a:latin typeface="Arial"/>
              </a:rPr>
              <a:t>cada</a:t>
            </a:r>
            <a:r>
              <a:rPr sz="1200" b="0" i="0" dirty="0">
                <a:solidFill>
                  <a:srgbClr val="6B7A8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6B7A8F"/>
                </a:solidFill>
                <a:latin typeface="Arial"/>
              </a:rPr>
              <a:t>semana</a:t>
            </a:r>
            <a:endParaRPr sz="1200" b="0" i="0" dirty="0">
              <a:solidFill>
                <a:srgbClr val="6B7A8F"/>
              </a:solidFill>
              <a:latin typeface="Arial"/>
            </a:endParaRPr>
          </a:p>
        </p:txBody>
      </p:sp>
      <p:sp>
        <p:nvSpPr>
          <p:cNvPr id="19" name="Tarjeta"/>
          <p:cNvSpPr/>
          <p:nvPr/>
        </p:nvSpPr>
        <p:spPr>
          <a:xfrm>
            <a:off x="7205472" y="1508760"/>
            <a:ext cx="22128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34071" y="1691639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1" y="2377439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issues cerrados</a:t>
            </a:r>
          </a:p>
        </p:txBody>
      </p:sp>
      <p:sp>
        <p:nvSpPr>
          <p:cNvPr id="22" name="Tarjeta"/>
          <p:cNvSpPr/>
          <p:nvPr/>
        </p:nvSpPr>
        <p:spPr>
          <a:xfrm>
            <a:off x="7205472" y="3127248"/>
            <a:ext cx="22128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34071" y="3310128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[ 00 ]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1" y="399592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commits del equipo</a:t>
            </a:r>
          </a:p>
        </p:txBody>
      </p:sp>
      <p:sp>
        <p:nvSpPr>
          <p:cNvPr id="25" name="Tarjeta"/>
          <p:cNvSpPr/>
          <p:nvPr/>
        </p:nvSpPr>
        <p:spPr>
          <a:xfrm>
            <a:off x="7205472" y="4745736"/>
            <a:ext cx="221284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34071" y="4928616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1" y="5614416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semanas de trabajo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13244E-52B1-F77C-5290-1EF2A49E3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19936"/>
            <a:ext cx="7073391" cy="50360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De los puntos críticos a los requisitos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6 · Solución · 1:30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docs/07-prototipo.md (issue 07)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Número"/>
          <p:cNvSpPr/>
          <p:nvPr/>
        </p:nvSpPr>
        <p:spPr>
          <a:xfrm>
            <a:off x="987552" y="1737360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173736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2402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falla hoy]</a:t>
            </a:r>
          </a:p>
        </p:txBody>
      </p:sp>
      <p:sp>
        <p:nvSpPr>
          <p:cNvPr id="21" name="Flecha"/>
          <p:cNvSpPr/>
          <p:nvPr/>
        </p:nvSpPr>
        <p:spPr>
          <a:xfrm>
            <a:off x="4690872" y="2057400"/>
            <a:ext cx="54864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arjeta"/>
          <p:cNvSpPr/>
          <p:nvPr/>
        </p:nvSpPr>
        <p:spPr>
          <a:xfrm>
            <a:off x="5422392" y="1508760"/>
            <a:ext cx="399592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50992" y="1737360"/>
            <a:ext cx="3538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DA2"/>
                </a:solidFill>
                <a:latin typeface="Arial"/>
              </a:rPr>
              <a:t>Requisito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2240280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debe hacer el prototipo para resolverlo]</a:t>
            </a:r>
          </a:p>
        </p:txBody>
      </p:sp>
      <p:sp>
        <p:nvSpPr>
          <p:cNvPr id="25" name="Tarjeta"/>
          <p:cNvSpPr/>
          <p:nvPr/>
        </p:nvSpPr>
        <p:spPr>
          <a:xfrm>
            <a:off x="758952" y="310896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Número"/>
          <p:cNvSpPr/>
          <p:nvPr/>
        </p:nvSpPr>
        <p:spPr>
          <a:xfrm>
            <a:off x="987552" y="3337560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33756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38404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falla hoy]</a:t>
            </a:r>
          </a:p>
        </p:txBody>
      </p:sp>
      <p:sp>
        <p:nvSpPr>
          <p:cNvPr id="29" name="Flecha"/>
          <p:cNvSpPr/>
          <p:nvPr/>
        </p:nvSpPr>
        <p:spPr>
          <a:xfrm>
            <a:off x="4690872" y="3657600"/>
            <a:ext cx="54864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arjeta"/>
          <p:cNvSpPr/>
          <p:nvPr/>
        </p:nvSpPr>
        <p:spPr>
          <a:xfrm>
            <a:off x="5422392" y="3108960"/>
            <a:ext cx="399592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50992" y="3337560"/>
            <a:ext cx="3538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DA2"/>
                </a:solidFill>
                <a:latin typeface="Arial"/>
              </a:rPr>
              <a:t>Requisito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0992" y="3840480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debe hacer el prototipo para resolverlo]</a:t>
            </a:r>
          </a:p>
        </p:txBody>
      </p:sp>
      <p:sp>
        <p:nvSpPr>
          <p:cNvPr id="33" name="Tarjeta"/>
          <p:cNvSpPr/>
          <p:nvPr/>
        </p:nvSpPr>
        <p:spPr>
          <a:xfrm>
            <a:off x="758952" y="470916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Número"/>
          <p:cNvSpPr/>
          <p:nvPr/>
        </p:nvSpPr>
        <p:spPr>
          <a:xfrm>
            <a:off x="987552" y="4937760"/>
            <a:ext cx="384048" cy="384048"/>
          </a:xfrm>
          <a:prstGeom prst="ellipse">
            <a:avLst/>
          </a:prstGeom>
          <a:solidFill>
            <a:srgbClr val="00B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6192" y="493776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Punto crítico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54406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falla hoy]</a:t>
            </a:r>
          </a:p>
        </p:txBody>
      </p:sp>
      <p:sp>
        <p:nvSpPr>
          <p:cNvPr id="37" name="Flecha"/>
          <p:cNvSpPr/>
          <p:nvPr/>
        </p:nvSpPr>
        <p:spPr>
          <a:xfrm>
            <a:off x="4690872" y="5257800"/>
            <a:ext cx="54864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arjeta"/>
          <p:cNvSpPr/>
          <p:nvPr/>
        </p:nvSpPr>
        <p:spPr>
          <a:xfrm>
            <a:off x="5422392" y="4709160"/>
            <a:ext cx="399592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50992" y="4937760"/>
            <a:ext cx="35387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03DA2"/>
                </a:solidFill>
                <a:latin typeface="Arial"/>
              </a:rPr>
              <a:t>Requisito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0992" y="5440680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debe hacer el prototipo para resolverlo]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[Nombre de la solución]: cómo funciona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6 · Solución · 1:30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docs/06-solucion.md (issue 09)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5760720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5394959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[Flujo de información en BPMN]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A8F"/>
                </a:solidFill>
                <a:latin typeface="Arial"/>
              </a:rPr>
              <a:t>assets/flujo-informacion.png</a:t>
            </a:r>
          </a:p>
        </p:txBody>
      </p:sp>
      <p:sp>
        <p:nvSpPr>
          <p:cNvPr id="19" name="Tarjeta"/>
          <p:cNvSpPr/>
          <p:nvPr/>
        </p:nvSpPr>
        <p:spPr>
          <a:xfrm>
            <a:off x="6748272" y="1508760"/>
            <a:ext cx="267004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76872" y="1783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LA SOLUCIÓN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2148839"/>
            <a:ext cx="221284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[Qué hace la solución en una o dos frases]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4160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TECNOLOGÍA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4526279"/>
            <a:ext cx="2212848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4345F"/>
                </a:solidFill>
                <a:latin typeface="Arial"/>
              </a:rPr>
              <a:t>[Herramientas usadas y por qué]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Antes y después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6 · Solución · 1:30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4238244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1783080"/>
            <a:ext cx="35981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6B7A8F"/>
                </a:solidFill>
                <a:latin typeface="Arial"/>
              </a:rPr>
              <a:t>Hoy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51460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[Paso 1]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[Cómo ocurre]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70332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[Paso 2]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[Cómo ocurre]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89204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[Paso 3]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[Cómo ocurre]</a:t>
            </a:r>
          </a:p>
        </p:txBody>
      </p:sp>
      <p:sp>
        <p:nvSpPr>
          <p:cNvPr id="21" name="Tarjeta"/>
          <p:cNvSpPr/>
          <p:nvPr/>
        </p:nvSpPr>
        <p:spPr>
          <a:xfrm>
            <a:off x="5180076" y="1508760"/>
            <a:ext cx="4238244" cy="47548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00116" y="1783080"/>
            <a:ext cx="35981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3DA2"/>
                </a:solidFill>
                <a:latin typeface="Arial"/>
              </a:rPr>
              <a:t>Con [nombre de la solución]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0116" y="251460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[Paso 1]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[Cómo ocurre con la solución]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0116" y="370332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[Paso 2]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[Cómo ocurre con la solución]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0116" y="4892040"/>
            <a:ext cx="35981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[Paso 3]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[Cómo ocurre con la solución]</a:t>
            </a:r>
          </a:p>
        </p:txBody>
      </p:sp>
      <p:sp>
        <p:nvSpPr>
          <p:cNvPr id="26" name="Flecha"/>
          <p:cNvSpPr/>
          <p:nvPr/>
        </p:nvSpPr>
        <p:spPr>
          <a:xfrm>
            <a:off x="4841748" y="3749039"/>
            <a:ext cx="45720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Hipótesis y alcance del prototipo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7 · Prototipo · 2:30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docs/07-prototipo.md (issue 07).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8659368" cy="14630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" y="1508760"/>
            <a:ext cx="7927848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4345F"/>
                </a:solidFill>
                <a:latin typeface="Arial"/>
              </a:rPr>
              <a:t>Creemos que [solución] para [usuario] logrará [resultado]. Sabremos que es cierto cuando [métrica observable].</a:t>
            </a:r>
          </a:p>
        </p:txBody>
      </p:sp>
      <p:sp>
        <p:nvSpPr>
          <p:cNvPr id="19" name="Tarjeta"/>
          <p:cNvSpPr/>
          <p:nvPr/>
        </p:nvSpPr>
        <p:spPr>
          <a:xfrm>
            <a:off x="758952" y="3200400"/>
            <a:ext cx="2764536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34290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BE6A"/>
                </a:solidFill>
                <a:latin typeface="Arial"/>
              </a:rPr>
              <a:t>DEBE TENER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840479"/>
            <a:ext cx="230733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</p:txBody>
      </p:sp>
      <p:sp>
        <p:nvSpPr>
          <p:cNvPr id="22" name="Tarjeta"/>
          <p:cNvSpPr/>
          <p:nvPr/>
        </p:nvSpPr>
        <p:spPr>
          <a:xfrm>
            <a:off x="3706368" y="3200400"/>
            <a:ext cx="2764536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34968" y="34290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PUEDE ESPERAR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4968" y="3840479"/>
            <a:ext cx="230733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</p:txBody>
      </p:sp>
      <p:sp>
        <p:nvSpPr>
          <p:cNvPr id="25" name="Tarjeta"/>
          <p:cNvSpPr/>
          <p:nvPr/>
        </p:nvSpPr>
        <p:spPr>
          <a:xfrm>
            <a:off x="6653784" y="3200400"/>
            <a:ext cx="2764536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82384" y="3429000"/>
            <a:ext cx="2307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B7A8F"/>
                </a:solidFill>
                <a:latin typeface="Arial"/>
              </a:rPr>
              <a:t>NO SE HACE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2384" y="3840479"/>
            <a:ext cx="230733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[Función]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Diseño: wireframes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7 · Prototipo · 2:30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wireframes del issue 07 en assets/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2703576" cy="393192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2337816" cy="3931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[Wireframe pantalla 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577840"/>
            <a:ext cx="2703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hace el usuario en la pantalla 1]</a:t>
            </a:r>
          </a:p>
        </p:txBody>
      </p:sp>
      <p:sp>
        <p:nvSpPr>
          <p:cNvPr id="20" name="Espacio para imagen"/>
          <p:cNvSpPr/>
          <p:nvPr/>
        </p:nvSpPr>
        <p:spPr>
          <a:xfrm>
            <a:off x="3736848" y="1508760"/>
            <a:ext cx="2703576" cy="393192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19728" y="1508760"/>
            <a:ext cx="2337816" cy="3931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[Wireframe pantalla 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6848" y="5577840"/>
            <a:ext cx="2703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hace el usuario en la pantalla 2]</a:t>
            </a:r>
          </a:p>
        </p:txBody>
      </p:sp>
      <p:sp>
        <p:nvSpPr>
          <p:cNvPr id="23" name="Espacio para imagen"/>
          <p:cNvSpPr/>
          <p:nvPr/>
        </p:nvSpPr>
        <p:spPr>
          <a:xfrm>
            <a:off x="6714744" y="1508760"/>
            <a:ext cx="2703576" cy="393192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7624" y="1508760"/>
            <a:ext cx="2337816" cy="3931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[Wireframe pantalla 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4744" y="5577840"/>
            <a:ext cx="270357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hace el usuario en la pantalla 3]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Del boceto al prototipo funcional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7 · Prototipo · 2:30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issues 10, 11 y 16, con las capturas de cada versión.</a:t>
            </a:r>
          </a:p>
        </p:txBody>
      </p:sp>
      <p:sp>
        <p:nvSpPr>
          <p:cNvPr id="17" name="Espacio para imagen"/>
          <p:cNvSpPr/>
          <p:nvPr/>
        </p:nvSpPr>
        <p:spPr>
          <a:xfrm>
            <a:off x="758952" y="1508760"/>
            <a:ext cx="2612136" cy="329184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508760"/>
            <a:ext cx="2246376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[Captura v0.1]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937760"/>
            <a:ext cx="26121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3DA2"/>
                </a:solidFill>
                <a:latin typeface="Arial"/>
              </a:rPr>
              <a:t>v0.1 · Semana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349240"/>
            <a:ext cx="2612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[Navegable, sin datos]</a:t>
            </a:r>
          </a:p>
        </p:txBody>
      </p:sp>
      <p:sp>
        <p:nvSpPr>
          <p:cNvPr id="21" name="Flecha"/>
          <p:cNvSpPr/>
          <p:nvPr/>
        </p:nvSpPr>
        <p:spPr>
          <a:xfrm>
            <a:off x="3425952" y="301752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Espacio para imagen"/>
          <p:cNvSpPr/>
          <p:nvPr/>
        </p:nvSpPr>
        <p:spPr>
          <a:xfrm>
            <a:off x="3782568" y="1508760"/>
            <a:ext cx="2612136" cy="329184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65448" y="1508760"/>
            <a:ext cx="2246376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[Captura v0.5]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2568" y="4937760"/>
            <a:ext cx="26121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3DA2"/>
                </a:solidFill>
                <a:latin typeface="Arial"/>
              </a:rPr>
              <a:t>v0.5 · Semana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2568" y="5349240"/>
            <a:ext cx="2612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[Flujo principal con datos reales]</a:t>
            </a:r>
          </a:p>
        </p:txBody>
      </p:sp>
      <p:sp>
        <p:nvSpPr>
          <p:cNvPr id="26" name="Flecha"/>
          <p:cNvSpPr/>
          <p:nvPr/>
        </p:nvSpPr>
        <p:spPr>
          <a:xfrm>
            <a:off x="6449568" y="3017520"/>
            <a:ext cx="320040" cy="274320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Espacio para imagen"/>
          <p:cNvSpPr/>
          <p:nvPr/>
        </p:nvSpPr>
        <p:spPr>
          <a:xfrm>
            <a:off x="6806184" y="1508760"/>
            <a:ext cx="2612136" cy="329184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89064" y="1508760"/>
            <a:ext cx="2246376" cy="3291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[Captura v1.0]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6184" y="4937760"/>
            <a:ext cx="26121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03DA2"/>
                </a:solidFill>
                <a:latin typeface="Arial"/>
              </a:rPr>
              <a:t>v1.0 · Semana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6184" y="5349240"/>
            <a:ext cx="26121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[Ajustada tras la prueba con el usuario]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Demostración en vivo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7 · Prototipo · 2:30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Número"/>
          <p:cNvSpPr/>
          <p:nvPr/>
        </p:nvSpPr>
        <p:spPr>
          <a:xfrm>
            <a:off x="987552" y="201168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1691639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Paso 1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[Qué se muestra funcionando]</a:t>
            </a:r>
          </a:p>
        </p:txBody>
      </p:sp>
      <p:sp>
        <p:nvSpPr>
          <p:cNvPr id="19" name="Tarjeta"/>
          <p:cNvSpPr/>
          <p:nvPr/>
        </p:nvSpPr>
        <p:spPr>
          <a:xfrm>
            <a:off x="758952" y="31089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Número"/>
          <p:cNvSpPr/>
          <p:nvPr/>
        </p:nvSpPr>
        <p:spPr>
          <a:xfrm>
            <a:off x="987552" y="361188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3291840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Paso 2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[Qué se muestra funcionando]</a:t>
            </a:r>
          </a:p>
        </p:txBody>
      </p:sp>
      <p:sp>
        <p:nvSpPr>
          <p:cNvPr id="22" name="Tarjeta"/>
          <p:cNvSpPr/>
          <p:nvPr/>
        </p:nvSpPr>
        <p:spPr>
          <a:xfrm>
            <a:off x="758952" y="47091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Número"/>
          <p:cNvSpPr/>
          <p:nvPr/>
        </p:nvSpPr>
        <p:spPr>
          <a:xfrm>
            <a:off x="987552" y="5212080"/>
            <a:ext cx="384048" cy="384048"/>
          </a:xfrm>
          <a:prstGeom prst="ellipse">
            <a:avLst/>
          </a:prstGeom>
          <a:solidFill>
            <a:srgbClr val="003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4892040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345F"/>
                </a:solidFill>
                <a:latin typeface="Arial"/>
              </a:rPr>
              <a:t>Paso 3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D4A5C"/>
                </a:solidFill>
                <a:latin typeface="Arial"/>
              </a:rPr>
              <a:t>[Qué se muestra funcionando]</a:t>
            </a:r>
          </a:p>
        </p:txBody>
      </p:sp>
      <p:sp>
        <p:nvSpPr>
          <p:cNvPr id="25" name="Espacio para imagen"/>
          <p:cNvSpPr/>
          <p:nvPr/>
        </p:nvSpPr>
        <p:spPr>
          <a:xfrm>
            <a:off x="6108192" y="1508760"/>
            <a:ext cx="3310128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91072" y="1508760"/>
            <a:ext cx="2944368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[QR o enlace al video de funcionalidad]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A8F"/>
                </a:solidFill>
                <a:latin typeface="Arial"/>
              </a:rPr>
              <a:t>Respaldo si falla la demo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Prueba con el usuario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8 · Validación · 1:30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docs/08-validacion.md (issue 15).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1" y="17099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MÉTODO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2075688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[Método elegido entre los 5 investigados y por qué]</a:t>
            </a:r>
          </a:p>
        </p:txBody>
      </p:sp>
      <p:sp>
        <p:nvSpPr>
          <p:cNvPr id="20" name="Tarjeta"/>
          <p:cNvSpPr/>
          <p:nvPr/>
        </p:nvSpPr>
        <p:spPr>
          <a:xfrm>
            <a:off x="758952" y="31089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3271" y="33101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PARTICIPANTES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675887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[Quién y cuántos]</a:t>
            </a:r>
          </a:p>
        </p:txBody>
      </p:sp>
      <p:sp>
        <p:nvSpPr>
          <p:cNvPr id="23" name="Tarjeta"/>
          <p:cNvSpPr/>
          <p:nvPr/>
        </p:nvSpPr>
        <p:spPr>
          <a:xfrm>
            <a:off x="758952" y="47091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3271" y="49103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TAREAS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5276088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[Qué le pedimos hacer al usuario]</a:t>
            </a:r>
          </a:p>
        </p:txBody>
      </p:sp>
      <p:sp>
        <p:nvSpPr>
          <p:cNvPr id="26" name="Espacio para imagen"/>
          <p:cNvSpPr/>
          <p:nvPr/>
        </p:nvSpPr>
        <p:spPr>
          <a:xfrm>
            <a:off x="6108192" y="1508760"/>
            <a:ext cx="3310128" cy="47548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1508760"/>
            <a:ext cx="2944368" cy="4754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[Foto de la prueba]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B7A8F"/>
                </a:solidFill>
                <a:latin typeface="Arial"/>
              </a:rPr>
              <a:t>Fecha y lugar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Resultados de la prueba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8 · Validación · 1:30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2749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1691639"/>
            <a:ext cx="229209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 / 0 ]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377439"/>
            <a:ext cx="2292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tareas logradas</a:t>
            </a:r>
          </a:p>
        </p:txBody>
      </p:sp>
      <p:sp>
        <p:nvSpPr>
          <p:cNvPr id="19" name="Tarjeta"/>
          <p:cNvSpPr/>
          <p:nvPr/>
        </p:nvSpPr>
        <p:spPr>
          <a:xfrm>
            <a:off x="3672840" y="1508760"/>
            <a:ext cx="2749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01440" y="1691639"/>
            <a:ext cx="229209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 min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1440" y="2377439"/>
            <a:ext cx="2292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tiempo promedio</a:t>
            </a:r>
          </a:p>
        </p:txBody>
      </p:sp>
      <p:sp>
        <p:nvSpPr>
          <p:cNvPr id="22" name="Tarjeta"/>
          <p:cNvSpPr/>
          <p:nvPr/>
        </p:nvSpPr>
        <p:spPr>
          <a:xfrm>
            <a:off x="6586728" y="1508760"/>
            <a:ext cx="274929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5328" y="1691639"/>
            <a:ext cx="229209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03DA2"/>
                </a:solidFill>
                <a:latin typeface="Arial"/>
              </a:rPr>
              <a:t>[ 0 ]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5328" y="2377439"/>
            <a:ext cx="22920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F"/>
                </a:solidFill>
                <a:latin typeface="Arial"/>
              </a:rPr>
              <a:t>errores</a:t>
            </a:r>
          </a:p>
        </p:txBody>
      </p:sp>
      <p:sp>
        <p:nvSpPr>
          <p:cNvPr id="25" name="Tarjeta"/>
          <p:cNvSpPr/>
          <p:nvPr/>
        </p:nvSpPr>
        <p:spPr>
          <a:xfrm>
            <a:off x="758952" y="3566160"/>
            <a:ext cx="8659368" cy="26974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4712" y="3794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LO QUE DIJO EL USUARIO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4206240"/>
            <a:ext cx="7927848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1">
                <a:solidFill>
                  <a:srgbClr val="14345F"/>
                </a:solidFill>
                <a:latin typeface="Arial"/>
              </a:rPr>
              <a:t>«[Retroalimentación textual del usuario]»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Qué aprendimos y qué cambiamos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8 · Validación · 1:30</a:t>
            </a:r>
            <a:endParaRPr lang="es-CO" sz="1600" dirty="0"/>
          </a:p>
        </p:txBody>
      </p:sp>
      <p:sp>
        <p:nvSpPr>
          <p:cNvPr id="16" name="Tarjeta"/>
          <p:cNvSpPr/>
          <p:nvPr/>
        </p:nvSpPr>
        <p:spPr>
          <a:xfrm>
            <a:off x="758952" y="15087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1691639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APRENDIMOS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0574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[Lo que observamos en la prueba]</a:t>
            </a:r>
          </a:p>
        </p:txBody>
      </p:sp>
      <p:sp>
        <p:nvSpPr>
          <p:cNvPr id="19" name="Flecha"/>
          <p:cNvSpPr/>
          <p:nvPr/>
        </p:nvSpPr>
        <p:spPr>
          <a:xfrm>
            <a:off x="4828032" y="2057400"/>
            <a:ext cx="50292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arjeta"/>
          <p:cNvSpPr/>
          <p:nvPr/>
        </p:nvSpPr>
        <p:spPr>
          <a:xfrm>
            <a:off x="5468112" y="1508760"/>
            <a:ext cx="395020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96712" y="1691639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AJUSTAMOS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2057400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[Cambio hecho en la v1.0]</a:t>
            </a:r>
          </a:p>
        </p:txBody>
      </p:sp>
      <p:sp>
        <p:nvSpPr>
          <p:cNvPr id="23" name="Tarjeta"/>
          <p:cNvSpPr/>
          <p:nvPr/>
        </p:nvSpPr>
        <p:spPr>
          <a:xfrm>
            <a:off x="758952" y="31089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3291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APRENDIMOS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6576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[Lo que observamos en la prueba]</a:t>
            </a:r>
          </a:p>
        </p:txBody>
      </p:sp>
      <p:sp>
        <p:nvSpPr>
          <p:cNvPr id="26" name="Flecha"/>
          <p:cNvSpPr/>
          <p:nvPr/>
        </p:nvSpPr>
        <p:spPr>
          <a:xfrm>
            <a:off x="4828032" y="3657600"/>
            <a:ext cx="50292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arjeta"/>
          <p:cNvSpPr/>
          <p:nvPr/>
        </p:nvSpPr>
        <p:spPr>
          <a:xfrm>
            <a:off x="5468112" y="3108960"/>
            <a:ext cx="395020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96712" y="3291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AJUSTAMOS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3657600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[Cambio hecho en la v1.0]</a:t>
            </a:r>
          </a:p>
        </p:txBody>
      </p:sp>
      <p:sp>
        <p:nvSpPr>
          <p:cNvPr id="30" name="Tarjeta"/>
          <p:cNvSpPr/>
          <p:nvPr/>
        </p:nvSpPr>
        <p:spPr>
          <a:xfrm>
            <a:off x="758952" y="47091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4892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APRENDIMOS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25780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[Lo que observamos en la prueba]</a:t>
            </a:r>
          </a:p>
        </p:txBody>
      </p:sp>
      <p:sp>
        <p:nvSpPr>
          <p:cNvPr id="33" name="Flecha"/>
          <p:cNvSpPr/>
          <p:nvPr/>
        </p:nvSpPr>
        <p:spPr>
          <a:xfrm>
            <a:off x="4828032" y="5257800"/>
            <a:ext cx="502920" cy="292608"/>
          </a:xfrm>
          <a:prstGeom prst="rightArrow">
            <a:avLst/>
          </a:prstGeom>
          <a:solidFill>
            <a:srgbClr val="008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arjeta"/>
          <p:cNvSpPr/>
          <p:nvPr/>
        </p:nvSpPr>
        <p:spPr>
          <a:xfrm>
            <a:off x="5468112" y="4709160"/>
            <a:ext cx="3950208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96712" y="4892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3DA2"/>
                </a:solidFill>
                <a:latin typeface="Arial"/>
              </a:rPr>
              <a:t>AJUSTAMOS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96712" y="5257800"/>
            <a:ext cx="34930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[Cambio hecho en la v1.0]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Campaña de lanzamiento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1 · Portada · logo, eslogan y elementos FabLab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issues 13 y 14, docs/10-campana.md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310896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Espacio para imagen"/>
          <p:cNvSpPr/>
          <p:nvPr/>
        </p:nvSpPr>
        <p:spPr>
          <a:xfrm>
            <a:off x="1033271" y="1783080"/>
            <a:ext cx="2560320" cy="210312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16151" y="1783080"/>
            <a:ext cx="2194560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[Logo]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14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NOMBRE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44348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345F"/>
                </a:solidFill>
                <a:latin typeface="Arial"/>
              </a:rPr>
              <a:t>[Nombre de la solución]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50749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807F"/>
                </a:solidFill>
                <a:latin typeface="Arial"/>
              </a:rPr>
              <a:t>ESLOGAN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539496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14345F"/>
                </a:solidFill>
                <a:latin typeface="Arial"/>
              </a:rPr>
              <a:t>[Eslogan]</a:t>
            </a:r>
          </a:p>
        </p:txBody>
      </p:sp>
      <p:sp>
        <p:nvSpPr>
          <p:cNvPr id="24" name="Espacio para imagen"/>
          <p:cNvSpPr/>
          <p:nvPr/>
        </p:nvSpPr>
        <p:spPr>
          <a:xfrm>
            <a:off x="4096511" y="1508760"/>
            <a:ext cx="2546604" cy="38404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79392" y="1508760"/>
            <a:ext cx="2180844" cy="3840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[Foto elemento FabLab 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1" y="5486400"/>
            <a:ext cx="254660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es, material y técnica: corte láser, impresión 3D o vinilo]</a:t>
            </a:r>
          </a:p>
        </p:txBody>
      </p:sp>
      <p:sp>
        <p:nvSpPr>
          <p:cNvPr id="27" name="Espacio para imagen"/>
          <p:cNvSpPr/>
          <p:nvPr/>
        </p:nvSpPr>
        <p:spPr>
          <a:xfrm>
            <a:off x="6871716" y="1508760"/>
            <a:ext cx="2546604" cy="384048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5875">
            <a:solidFill>
              <a:srgbClr val="0080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4596" y="1508760"/>
            <a:ext cx="2180844" cy="3840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07F"/>
                </a:solidFill>
                <a:latin typeface="Arial"/>
              </a:rPr>
              <a:t>[Foto elemento FabLab 2]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5486400"/>
            <a:ext cx="254660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[Qué es, material y técnica: corte láser, impresión 3D o vinilo]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3DA2"/>
              </a:gs>
              <a:gs pos="52000">
                <a:srgbClr val="00807F"/>
              </a:gs>
              <a:gs pos="100000">
                <a:srgbClr val="00BE6A"/>
              </a:gs>
            </a:gsLst>
            <a:lin ang="18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1" name="Imagen 11" descr="Universidad Ean"/>
          <p:cNvPicPr>
            <a:picLocks noChangeAspect="1"/>
          </p:cNvPicPr>
          <p:nvPr/>
        </p:nvPicPr>
        <p:blipFill>
          <a:blip r:embed="rId3"/>
          <a:srcRect l="-66" r="-66"/>
          <a:stretch/>
        </p:blipFill>
        <p:spPr>
          <a:xfrm>
            <a:off x="9931400" y="508000"/>
            <a:ext cx="1498600" cy="660400"/>
          </a:xfrm>
          <a:prstGeom prst="rect">
            <a:avLst/>
          </a:prstGeom>
        </p:spPr>
      </p:pic>
      <p:pic>
        <p:nvPicPr>
          <p:cNvPr id="12" name="Imagen 12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9931400" y="5892800"/>
            <a:ext cx="1498600" cy="482600"/>
          </a:xfrm>
          <a:prstGeom prst="rect">
            <a:avLst/>
          </a:prstGeom>
        </p:spPr>
      </p:pic>
      <p:sp>
        <p:nvSpPr>
          <p:cNvPr id="13" name="Antetítulo"/>
          <p:cNvSpPr/>
          <p:nvPr/>
        </p:nvSpPr>
        <p:spPr>
          <a:xfrm>
            <a:off x="762000" y="27178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[NOMBRE DE LA SOLUCIÓN]</a:t>
            </a:r>
            <a:endParaRPr lang="es-CO" sz="1400" dirty="0"/>
          </a:p>
        </p:txBody>
      </p:sp>
      <p:sp>
        <p:nvSpPr>
          <p:cNvPr id="14" name="Título"/>
          <p:cNvSpPr/>
          <p:nvPr/>
        </p:nvSpPr>
        <p:spPr>
          <a:xfrm>
            <a:off x="762000" y="3048000"/>
            <a:ext cx="8890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Gracias · Preguntas</a:t>
            </a:r>
            <a:endParaRPr lang="es-CO" sz="5000" dirty="0"/>
          </a:p>
        </p:txBody>
      </p:sp>
      <p:sp>
        <p:nvSpPr>
          <p:cNvPr id="15" name="Subtítulo"/>
          <p:cNvSpPr/>
          <p:nvPr/>
        </p:nvSpPr>
        <p:spPr>
          <a:xfrm>
            <a:off x="762000" y="4724400"/>
            <a:ext cx="838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dirty="0">
                <a:solidFill>
                  <a:srgbClr val="DCECF5"/>
                </a:solidFill>
                <a:latin typeface="Arial"/>
                <a:ea typeface="Arial"/>
                <a:cs typeface="Arial"/>
              </a:rPr>
              <a:t>[Eslogan] · Repositorio: github.com/[usuario]/[repositorio]</a:t>
            </a:r>
            <a:endParaRPr lang="es-CO" sz="1800" dirty="0"/>
          </a:p>
        </p:txBody>
      </p:sp>
      <p:sp>
        <p:nvSpPr>
          <p:cNvPr id="16" name="Pie"/>
          <p:cNvSpPr/>
          <p:nvPr/>
        </p:nvSpPr>
        <p:spPr>
          <a:xfrm>
            <a:off x="762000" y="63119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dirty="0">
                <a:solidFill>
                  <a:srgbClr val="CFE3EF"/>
                </a:solidFill>
                <a:latin typeface="Arial"/>
                <a:ea typeface="Arial"/>
                <a:cs typeface="Arial"/>
              </a:rPr>
              <a:t>Facultad de Ingeniería · Unidad de estudio transversal · Ciclo 4 de 2026</a:t>
            </a:r>
            <a:endParaRPr lang="es-CO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Anexo · Matriz de riesgos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Material de apoyo para las preguntas del jurado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docs/09-riesgos.md (issue 12)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287121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15087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Riesgo</a:t>
            </a:r>
          </a:p>
        </p:txBody>
      </p:sp>
      <p:sp>
        <p:nvSpPr>
          <p:cNvPr id="19" name="Tarjeta"/>
          <p:cNvSpPr/>
          <p:nvPr/>
        </p:nvSpPr>
        <p:spPr>
          <a:xfrm>
            <a:off x="3685032" y="1508760"/>
            <a:ext cx="1225295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22192" y="1508760"/>
            <a:ext cx="100583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Nivel</a:t>
            </a:r>
          </a:p>
        </p:txBody>
      </p:sp>
      <p:sp>
        <p:nvSpPr>
          <p:cNvPr id="21" name="Tarjeta"/>
          <p:cNvSpPr/>
          <p:nvPr/>
        </p:nvSpPr>
        <p:spPr>
          <a:xfrm>
            <a:off x="4965192" y="1508760"/>
            <a:ext cx="287121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02352" y="150876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Tratamiento</a:t>
            </a:r>
          </a:p>
        </p:txBody>
      </p:sp>
      <p:sp>
        <p:nvSpPr>
          <p:cNvPr id="23" name="Tarjeta"/>
          <p:cNvSpPr/>
          <p:nvPr/>
        </p:nvSpPr>
        <p:spPr>
          <a:xfrm>
            <a:off x="7891271" y="1508760"/>
            <a:ext cx="1472184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1" y="1508760"/>
            <a:ext cx="125272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Responsable</a:t>
            </a:r>
          </a:p>
        </p:txBody>
      </p:sp>
      <p:sp>
        <p:nvSpPr>
          <p:cNvPr id="25" name="Tarjeta"/>
          <p:cNvSpPr/>
          <p:nvPr/>
        </p:nvSpPr>
        <p:spPr>
          <a:xfrm>
            <a:off x="758952" y="1993391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1993391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[Riesgo 1]</a:t>
            </a:r>
          </a:p>
        </p:txBody>
      </p:sp>
      <p:sp>
        <p:nvSpPr>
          <p:cNvPr id="27" name="Tarjeta"/>
          <p:cNvSpPr/>
          <p:nvPr/>
        </p:nvSpPr>
        <p:spPr>
          <a:xfrm>
            <a:off x="3685032" y="1993391"/>
            <a:ext cx="1225295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22192" y="1993391"/>
            <a:ext cx="1005839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[Alto]</a:t>
            </a:r>
          </a:p>
        </p:txBody>
      </p:sp>
      <p:sp>
        <p:nvSpPr>
          <p:cNvPr id="29" name="Tarjeta"/>
          <p:cNvSpPr/>
          <p:nvPr/>
        </p:nvSpPr>
        <p:spPr>
          <a:xfrm>
            <a:off x="4965192" y="1993391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02352" y="1993391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[Evitar, reducir, transferir o aceptar]</a:t>
            </a:r>
          </a:p>
        </p:txBody>
      </p:sp>
      <p:sp>
        <p:nvSpPr>
          <p:cNvPr id="31" name="Tarjeta"/>
          <p:cNvSpPr/>
          <p:nvPr/>
        </p:nvSpPr>
        <p:spPr>
          <a:xfrm>
            <a:off x="7891271" y="1993391"/>
            <a:ext cx="147218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28431" y="1993391"/>
            <a:ext cx="125272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[Rol]</a:t>
            </a:r>
          </a:p>
        </p:txBody>
      </p:sp>
      <p:sp>
        <p:nvSpPr>
          <p:cNvPr id="33" name="Tarjeta"/>
          <p:cNvSpPr/>
          <p:nvPr/>
        </p:nvSpPr>
        <p:spPr>
          <a:xfrm>
            <a:off x="758952" y="3090672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3090672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[Riesgo 2]</a:t>
            </a:r>
          </a:p>
        </p:txBody>
      </p:sp>
      <p:sp>
        <p:nvSpPr>
          <p:cNvPr id="35" name="Tarjeta"/>
          <p:cNvSpPr/>
          <p:nvPr/>
        </p:nvSpPr>
        <p:spPr>
          <a:xfrm>
            <a:off x="3685032" y="3090672"/>
            <a:ext cx="1225295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22192" y="3090672"/>
            <a:ext cx="1005839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[Medio]</a:t>
            </a:r>
          </a:p>
        </p:txBody>
      </p:sp>
      <p:sp>
        <p:nvSpPr>
          <p:cNvPr id="37" name="Tarjeta"/>
          <p:cNvSpPr/>
          <p:nvPr/>
        </p:nvSpPr>
        <p:spPr>
          <a:xfrm>
            <a:off x="4965192" y="3090672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02352" y="3090672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[Tratamiento]</a:t>
            </a:r>
          </a:p>
        </p:txBody>
      </p:sp>
      <p:sp>
        <p:nvSpPr>
          <p:cNvPr id="39" name="Tarjeta"/>
          <p:cNvSpPr/>
          <p:nvPr/>
        </p:nvSpPr>
        <p:spPr>
          <a:xfrm>
            <a:off x="7891271" y="3090672"/>
            <a:ext cx="147218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28431" y="3090672"/>
            <a:ext cx="125272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[Rol]</a:t>
            </a:r>
          </a:p>
        </p:txBody>
      </p:sp>
      <p:sp>
        <p:nvSpPr>
          <p:cNvPr id="41" name="Tarjeta"/>
          <p:cNvSpPr/>
          <p:nvPr/>
        </p:nvSpPr>
        <p:spPr>
          <a:xfrm>
            <a:off x="758952" y="4187952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4187952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[Riesgo 3]</a:t>
            </a:r>
          </a:p>
        </p:txBody>
      </p:sp>
      <p:sp>
        <p:nvSpPr>
          <p:cNvPr id="43" name="Tarjeta"/>
          <p:cNvSpPr/>
          <p:nvPr/>
        </p:nvSpPr>
        <p:spPr>
          <a:xfrm>
            <a:off x="3685032" y="4187952"/>
            <a:ext cx="1225295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22192" y="4187952"/>
            <a:ext cx="1005839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[Medio]</a:t>
            </a:r>
          </a:p>
        </p:txBody>
      </p:sp>
      <p:sp>
        <p:nvSpPr>
          <p:cNvPr id="45" name="Tarjeta"/>
          <p:cNvSpPr/>
          <p:nvPr/>
        </p:nvSpPr>
        <p:spPr>
          <a:xfrm>
            <a:off x="4965192" y="4187952"/>
            <a:ext cx="287121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02352" y="4187952"/>
            <a:ext cx="265176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[Tratamiento]</a:t>
            </a:r>
          </a:p>
        </p:txBody>
      </p:sp>
      <p:sp>
        <p:nvSpPr>
          <p:cNvPr id="47" name="Tarjeta"/>
          <p:cNvSpPr/>
          <p:nvPr/>
        </p:nvSpPr>
        <p:spPr>
          <a:xfrm>
            <a:off x="7891271" y="4187952"/>
            <a:ext cx="147218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28431" y="4187952"/>
            <a:ext cx="125272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[Rol]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" y="5486400"/>
            <a:ext cx="86593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345F"/>
                </a:solidFill>
                <a:latin typeface="Arial"/>
              </a:rPr>
              <a:t>Perfil de ciberseguridad: [qué datos maneja la solución y cómo se protegen]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ndo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BFBFD"/>
              </a:gs>
              <a:gs pos="52000">
                <a:srgbClr val="F4F1FB"/>
              </a:gs>
              <a:gs pos="100000">
                <a:srgbClr val="E4F5EA"/>
              </a:gs>
            </a:gsLst>
            <a:lin ang="15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1" name="Fondo 11"/>
          <p:cNvSpPr/>
          <p:nvPr/>
        </p:nvSpPr>
        <p:spPr>
          <a:xfrm>
            <a:off x="9779000" y="0"/>
            <a:ext cx="2413000" cy="6858000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003DA2"/>
              </a:gs>
              <a:gs pos="55000">
                <a:srgbClr val="00807F"/>
              </a:gs>
              <a:gs pos="100000">
                <a:srgbClr val="00BE6A"/>
              </a:gs>
            </a:gsLst>
            <a:lin ang="6600000" scaled="0"/>
          </a:gradFill>
          <a:ln>
            <a:noFill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n 12" descr="Universidad Ean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10121900" y="457200"/>
            <a:ext cx="1600200" cy="704850"/>
          </a:xfrm>
          <a:prstGeom prst="rect">
            <a:avLst/>
          </a:prstGeom>
        </p:spPr>
      </p:pic>
      <p:pic>
        <p:nvPicPr>
          <p:cNvPr id="13" name="Imagen 13" descr="Somos la U. del emprendimiento sostenible"/>
          <p:cNvPicPr>
            <a:picLocks noChangeAspect="1"/>
          </p:cNvPicPr>
          <p:nvPr/>
        </p:nvPicPr>
        <p:blipFill>
          <a:blip r:embed="rId4"/>
          <a:srcRect t="-110" b="-110"/>
          <a:stretch/>
        </p:blipFill>
        <p:spPr>
          <a:xfrm>
            <a:off x="10223500" y="5918200"/>
            <a:ext cx="1498600" cy="482600"/>
          </a:xfrm>
          <a:prstGeom prst="rect">
            <a:avLst/>
          </a:prstGeom>
        </p:spPr>
      </p:pic>
      <p:sp>
        <p:nvSpPr>
          <p:cNvPr id="14" name="Título"/>
          <p:cNvSpPr/>
          <p:nvPr/>
        </p:nvSpPr>
        <p:spPr>
          <a:xfrm>
            <a:off x="762000" y="457200"/>
            <a:ext cx="866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200" dirty="0">
                <a:solidFill>
                  <a:srgbClr val="14345F"/>
                </a:solidFill>
                <a:latin typeface="Arial"/>
                <a:ea typeface="Arial"/>
                <a:cs typeface="Arial"/>
              </a:rPr>
              <a:t>Anexo · Declaración de uso de IA</a:t>
            </a:r>
            <a:endParaRPr lang="es-CO" sz="3200" dirty="0"/>
          </a:p>
        </p:txBody>
      </p:sp>
      <p:sp>
        <p:nvSpPr>
          <p:cNvPr id="15" name="Sección"/>
          <p:cNvSpPr/>
          <p:nvPr/>
        </p:nvSpPr>
        <p:spPr>
          <a:xfrm>
            <a:off x="762000" y="1041400"/>
            <a:ext cx="8661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solidFill>
                  <a:srgbClr val="00807F"/>
                </a:solidFill>
                <a:latin typeface="Arial"/>
                <a:ea typeface="Arial"/>
                <a:cs typeface="Arial"/>
              </a:rPr>
              <a:t>Acuerdo CSU 006 de 2025</a:t>
            </a:r>
            <a:endParaRPr lang="es-CO" sz="1600" dirty="0"/>
          </a:p>
        </p:txBody>
      </p:sp>
      <p:sp>
        <p:nvSpPr>
          <p:cNvPr id="16" name="Fuente"/>
          <p:cNvSpPr txBox="1"/>
          <p:nvPr/>
        </p:nvSpPr>
        <p:spPr>
          <a:xfrm>
            <a:off x="758952" y="6382512"/>
            <a:ext cx="8659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B7A8F"/>
                </a:solidFill>
                <a:latin typeface="Arial"/>
              </a:rPr>
              <a:t>Sale de: docs/11-uso-ia.md (issue 17)</a:t>
            </a:r>
          </a:p>
        </p:txBody>
      </p:sp>
      <p:sp>
        <p:nvSpPr>
          <p:cNvPr id="17" name="Tarjeta"/>
          <p:cNvSpPr/>
          <p:nvPr/>
        </p:nvSpPr>
        <p:spPr>
          <a:xfrm>
            <a:off x="758952" y="1508760"/>
            <a:ext cx="177393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15087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Herramienta</a:t>
            </a:r>
          </a:p>
        </p:txBody>
      </p:sp>
      <p:sp>
        <p:nvSpPr>
          <p:cNvPr id="19" name="Tarjeta"/>
          <p:cNvSpPr/>
          <p:nvPr/>
        </p:nvSpPr>
        <p:spPr>
          <a:xfrm>
            <a:off x="2587752" y="1508760"/>
            <a:ext cx="131673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24912" y="150876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Fecha</a:t>
            </a:r>
          </a:p>
        </p:txBody>
      </p:sp>
      <p:sp>
        <p:nvSpPr>
          <p:cNvPr id="21" name="Tarjeta"/>
          <p:cNvSpPr/>
          <p:nvPr/>
        </p:nvSpPr>
        <p:spPr>
          <a:xfrm>
            <a:off x="3959352" y="1508760"/>
            <a:ext cx="2322576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96512" y="150876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Para qué</a:t>
            </a:r>
          </a:p>
        </p:txBody>
      </p:sp>
      <p:sp>
        <p:nvSpPr>
          <p:cNvPr id="23" name="Tarjeta"/>
          <p:cNvSpPr/>
          <p:nvPr/>
        </p:nvSpPr>
        <p:spPr>
          <a:xfrm>
            <a:off x="6336792" y="1508760"/>
            <a:ext cx="3026664" cy="411480"/>
          </a:xfrm>
          <a:prstGeom prst="roundRect">
            <a:avLst>
              <a:gd name="adj" fmla="val 10000"/>
            </a:avLst>
          </a:prstGeom>
          <a:solidFill>
            <a:srgbClr val="14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1508760"/>
            <a:ext cx="280720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Prompt (resumen)</a:t>
            </a:r>
          </a:p>
        </p:txBody>
      </p:sp>
      <p:sp>
        <p:nvSpPr>
          <p:cNvPr id="25" name="Tarjeta"/>
          <p:cNvSpPr/>
          <p:nvPr/>
        </p:nvSpPr>
        <p:spPr>
          <a:xfrm>
            <a:off x="758952" y="1993391"/>
            <a:ext cx="17739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1993391"/>
            <a:ext cx="15544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[Herramienta y versión]</a:t>
            </a:r>
          </a:p>
        </p:txBody>
      </p:sp>
      <p:sp>
        <p:nvSpPr>
          <p:cNvPr id="27" name="Tarjeta"/>
          <p:cNvSpPr/>
          <p:nvPr/>
        </p:nvSpPr>
        <p:spPr>
          <a:xfrm>
            <a:off x="2587752" y="1993391"/>
            <a:ext cx="13167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24912" y="1993391"/>
            <a:ext cx="10972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[dd/mm]</a:t>
            </a:r>
          </a:p>
        </p:txBody>
      </p:sp>
      <p:sp>
        <p:nvSpPr>
          <p:cNvPr id="29" name="Tarjeta"/>
          <p:cNvSpPr/>
          <p:nvPr/>
        </p:nvSpPr>
        <p:spPr>
          <a:xfrm>
            <a:off x="3959352" y="1993391"/>
            <a:ext cx="232257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96512" y="1993391"/>
            <a:ext cx="210312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[Entregable]</a:t>
            </a:r>
          </a:p>
        </p:txBody>
      </p:sp>
      <p:sp>
        <p:nvSpPr>
          <p:cNvPr id="31" name="Tarjeta"/>
          <p:cNvSpPr/>
          <p:nvPr/>
        </p:nvSpPr>
        <p:spPr>
          <a:xfrm>
            <a:off x="6336792" y="1993391"/>
            <a:ext cx="302666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3952" y="1993391"/>
            <a:ext cx="280720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[Prompt usado]</a:t>
            </a:r>
          </a:p>
        </p:txBody>
      </p:sp>
      <p:sp>
        <p:nvSpPr>
          <p:cNvPr id="33" name="Tarjeta"/>
          <p:cNvSpPr/>
          <p:nvPr/>
        </p:nvSpPr>
        <p:spPr>
          <a:xfrm>
            <a:off x="758952" y="3090672"/>
            <a:ext cx="17739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3090672"/>
            <a:ext cx="15544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[Herramienta]</a:t>
            </a:r>
          </a:p>
        </p:txBody>
      </p:sp>
      <p:sp>
        <p:nvSpPr>
          <p:cNvPr id="35" name="Tarjeta"/>
          <p:cNvSpPr/>
          <p:nvPr/>
        </p:nvSpPr>
        <p:spPr>
          <a:xfrm>
            <a:off x="2587752" y="3090672"/>
            <a:ext cx="13167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24912" y="3090672"/>
            <a:ext cx="10972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[dd/mm]</a:t>
            </a:r>
          </a:p>
        </p:txBody>
      </p:sp>
      <p:sp>
        <p:nvSpPr>
          <p:cNvPr id="37" name="Tarjeta"/>
          <p:cNvSpPr/>
          <p:nvPr/>
        </p:nvSpPr>
        <p:spPr>
          <a:xfrm>
            <a:off x="3959352" y="3090672"/>
            <a:ext cx="232257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96512" y="3090672"/>
            <a:ext cx="210312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[Entregable]</a:t>
            </a:r>
          </a:p>
        </p:txBody>
      </p:sp>
      <p:sp>
        <p:nvSpPr>
          <p:cNvPr id="39" name="Tarjeta"/>
          <p:cNvSpPr/>
          <p:nvPr/>
        </p:nvSpPr>
        <p:spPr>
          <a:xfrm>
            <a:off x="6336792" y="3090672"/>
            <a:ext cx="302666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3952" y="3090672"/>
            <a:ext cx="280720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[Prompt usado]</a:t>
            </a:r>
          </a:p>
        </p:txBody>
      </p:sp>
      <p:sp>
        <p:nvSpPr>
          <p:cNvPr id="41" name="Tarjeta"/>
          <p:cNvSpPr/>
          <p:nvPr/>
        </p:nvSpPr>
        <p:spPr>
          <a:xfrm>
            <a:off x="758952" y="4187952"/>
            <a:ext cx="17739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4187952"/>
            <a:ext cx="15544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345F"/>
                </a:solidFill>
                <a:latin typeface="Arial"/>
              </a:rPr>
              <a:t>[Herramienta]</a:t>
            </a:r>
          </a:p>
        </p:txBody>
      </p:sp>
      <p:sp>
        <p:nvSpPr>
          <p:cNvPr id="43" name="Tarjeta"/>
          <p:cNvSpPr/>
          <p:nvPr/>
        </p:nvSpPr>
        <p:spPr>
          <a:xfrm>
            <a:off x="2587752" y="4187952"/>
            <a:ext cx="131673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24912" y="4187952"/>
            <a:ext cx="109728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[dd/mm]</a:t>
            </a:r>
          </a:p>
        </p:txBody>
      </p:sp>
      <p:sp>
        <p:nvSpPr>
          <p:cNvPr id="45" name="Tarjeta"/>
          <p:cNvSpPr/>
          <p:nvPr/>
        </p:nvSpPr>
        <p:spPr>
          <a:xfrm>
            <a:off x="3959352" y="4187952"/>
            <a:ext cx="2322576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96512" y="4187952"/>
            <a:ext cx="2103120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[Entregable]</a:t>
            </a:r>
          </a:p>
        </p:txBody>
      </p:sp>
      <p:sp>
        <p:nvSpPr>
          <p:cNvPr id="47" name="Tarjeta"/>
          <p:cNvSpPr/>
          <p:nvPr/>
        </p:nvSpPr>
        <p:spPr>
          <a:xfrm>
            <a:off x="6336792" y="4187952"/>
            <a:ext cx="3026664" cy="10241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73952" y="4187952"/>
            <a:ext cx="2807208" cy="10241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D4A5C"/>
                </a:solidFill>
                <a:latin typeface="Arial"/>
              </a:rPr>
              <a:t>[Prompt usado]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E1A0F8-4AF4-4F64-A72D-BDEFEDF5EBB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45e2882-ca13-4bf6-9d6e-9d0bd96ce35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2333</Words>
  <Application>Microsoft Office PowerPoint</Application>
  <PresentationFormat>Panorámica</PresentationFormat>
  <Paragraphs>386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8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Pitch Trend &amp; Tech 2026</dc:title>
  <dc:creator>Ferney Torres Ome</dc:creator>
  <cp:keywords/>
  <dc:description/>
  <cp:lastModifiedBy>Yoel Morales Villalba</cp:lastModifiedBy>
  <cp:revision>3</cp:revision>
  <dcterms:created xsi:type="dcterms:W3CDTF">2026-10-08T13:46:20Z</dcterms:created>
  <dcterms:modified xsi:type="dcterms:W3CDTF">2026-10-21T22:27:06Z</dcterms:modified>
</cp:coreProperties>
</file>